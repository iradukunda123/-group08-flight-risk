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We are Group 8. Our project asks a simple HR question: using information a company already has, can we tell who is likely to leave — and explain why the model thinks so?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Turnover is expensive and disruptive. HR usually learns about it only when the resignation arrives. Our question is whether the data already sitting in the HR system carries an earlier signal.</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237 of 1,470 employees left — about one in six. That imbalance drives every modelling decision that follows.</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the outlier decision: a 30-year employee or a very high salary is unusual but legitimate. Deleting those rows would have biased the analysis.</a:t>
            </a:r>
            <a:endParaRPr/>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important message here is that there is no silver bullet variable. That is exactly why a model that combines many weak signals is useful.</a:t>
            </a:r>
            <a:endParaRPr/>
          </a:p>
        </p:txBody>
      </p:sp>
      <p:sp>
        <p:nvSpPr>
          <p:cNvPr id="96" name="Google Shape;9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key design choice of the unsupervised section: hide the answer, then check afterwards whether the groups differ in attrition.</a:t>
            </a:r>
            <a:endParaRPr/>
          </a:p>
        </p:txBody>
      </p:sp>
      <p:sp>
        <p:nvSpPr>
          <p:cNvPr id="108" name="Google Shape;1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tested K from 2 to 8 using inertia and silhouette. K=2 won, but we are honest that 0.2176 is a weak separation.</a:t>
            </a:r>
            <a:endParaRPr/>
          </a:p>
        </p:txBody>
      </p:sp>
      <p:sp>
        <p:nvSpPr>
          <p:cNvPr id="128" name="Google Shape;1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clustering split the workforce by tenure, not by satisfaction. And the early-tenure group leaves at nearly twice the rate.</a:t>
            </a:r>
            <a:endParaRPr/>
          </a:p>
        </p:txBody>
      </p:sp>
      <p:sp>
        <p:nvSpPr>
          <p:cNvPr id="141" name="Google Shape;14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Because the class is imbalanced, accuracy flatters lazy models. F1 balances catching leavers against raising false alarms.</a:t>
            </a:r>
            <a:endParaRPr/>
          </a:p>
        </p:txBody>
      </p:sp>
      <p:sp>
        <p:nvSpPr>
          <p:cNvPr id="167" name="Google Shape;1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Look at Random Forest: the best accuracy on the slide belongs to the weakest model for our actual job. That is the imbalance problem made visible.</a:t>
            </a:r>
            <a:endParaRPr/>
          </a:p>
        </p:txBody>
      </p:sp>
      <p:sp>
        <p:nvSpPr>
          <p:cNvPr id="198" name="Google Shape;1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chose SVM on F1 because our stated objective was balance. We name the alternative openly, because the right choice depends on what HR wants to optimise.</a:t>
            </a:r>
            <a:endParaRPr/>
          </a:p>
        </p:txBody>
      </p:sp>
      <p:sp>
        <p:nvSpPr>
          <p:cNvPr id="209" name="Google Shape;2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OverTime has by far the largest average contribution, roughly three times the next feature. We repeat the causal caveat every time we show this.</a:t>
            </a:r>
            <a:endParaRPr/>
          </a:p>
        </p:txBody>
      </p:sp>
      <p:sp>
        <p:nvSpPr>
          <p:cNvPr id="233" name="Google Shape;2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point of the interpretation work: turning a probability into a profile a human being can actually respond to.</a:t>
            </a:r>
            <a:endParaRPr/>
          </a:p>
        </p:txBody>
      </p:sp>
      <p:sp>
        <p:nvSpPr>
          <p:cNvPr id="244" name="Google Shape;24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false positive here is a real person quietly written off by a machine on the strength of a near coin-flip prediction. That is why the human stays in the loop.</a:t>
            </a:r>
            <a:endParaRPr/>
          </a:p>
        </p:txBody>
      </p:sp>
      <p:sp>
        <p:nvSpPr>
          <p:cNvPr id="273" name="Google Shape;27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close: the value of this project is an earlier question, asked of the right group of people, with a reason attached.</a:t>
            </a:r>
            <a:endParaRPr/>
          </a:p>
        </p:txBody>
      </p:sp>
      <p:sp>
        <p:nvSpPr>
          <p:cNvPr id="297" name="Google Shape;2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We are happy to take questions on the modelling choices or the interpretation.</a:t>
            </a:r>
            <a:endParaRPr/>
          </a:p>
        </p:txBody>
      </p:sp>
      <p:sp>
        <p:nvSpPr>
          <p:cNvPr id="317" name="Google Shape;31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3"/>
          <p:cNvSpPr/>
          <p:nvPr/>
        </p:nvSpPr>
        <p:spPr>
          <a:xfrm>
            <a:off x="6766560" y="-1005840"/>
            <a:ext cx="3840480" cy="3840480"/>
          </a:xfrm>
          <a:prstGeom prst="ellipse">
            <a:avLst/>
          </a:prstGeom>
          <a:solidFill>
            <a:srgbClr val="141C45"/>
          </a:solidFill>
          <a:ln cap="flat" cmpd="sng" w="12700">
            <a:solidFill>
              <a:srgbClr val="141C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nvSpPr>
        <p:spPr>
          <a:xfrm>
            <a:off x="640080" y="50292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100" u="none" cap="none" strike="noStrike">
                <a:solidFill>
                  <a:srgbClr val="CADCFC"/>
                </a:solidFill>
                <a:latin typeface="Calibri"/>
                <a:ea typeface="Calibri"/>
                <a:cs typeface="Calibri"/>
                <a:sym typeface="Calibri"/>
              </a:rPr>
              <a:t>ADVENTIST UNIVERSITY OF CENTRAL AFRICA  ·  MSc BIG DATA ANALYTICS</a:t>
            </a:r>
            <a:endParaRPr b="0" i="0" sz="1100" u="none" cap="none" strike="noStrike">
              <a:solidFill>
                <a:schemeClr val="dk1"/>
              </a:solidFill>
              <a:latin typeface="Calibri"/>
              <a:ea typeface="Calibri"/>
              <a:cs typeface="Calibri"/>
              <a:sym typeface="Calibri"/>
            </a:endParaRPr>
          </a:p>
        </p:txBody>
      </p:sp>
      <p:sp>
        <p:nvSpPr>
          <p:cNvPr id="18" name="Google Shape;18;p3"/>
          <p:cNvSpPr txBox="1"/>
          <p:nvPr/>
        </p:nvSpPr>
        <p:spPr>
          <a:xfrm>
            <a:off x="640080" y="1051560"/>
            <a:ext cx="6766560" cy="1371600"/>
          </a:xfrm>
          <a:prstGeom prst="rect">
            <a:avLst/>
          </a:prstGeom>
          <a:noFill/>
          <a:ln>
            <a:noFill/>
          </a:ln>
        </p:spPr>
        <p:txBody>
          <a:bodyPr anchorCtr="0" anchor="ctr" bIns="0" lIns="0" spcFirstLastPara="1" rIns="0" wrap="square" tIns="0">
            <a:noAutofit/>
          </a:bodyPr>
          <a:lstStyle/>
          <a:p>
            <a:pPr indent="0" lvl="0" marL="0" marR="0" rtl="0" algn="l">
              <a:lnSpc>
                <a:spcPct val="104999"/>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People Analytics:</a:t>
            </a:r>
            <a:endParaRPr b="0" i="0" sz="4000" u="none" cap="none" strike="noStrike">
              <a:solidFill>
                <a:schemeClr val="dk1"/>
              </a:solidFill>
              <a:latin typeface="Calibri"/>
              <a:ea typeface="Calibri"/>
              <a:cs typeface="Calibri"/>
              <a:sym typeface="Calibri"/>
            </a:endParaRPr>
          </a:p>
          <a:p>
            <a:pPr indent="0" lvl="0" marL="0" marR="0" rtl="0" algn="l">
              <a:lnSpc>
                <a:spcPct val="104999"/>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Who's a Flight Risk?</a:t>
            </a:r>
            <a:endParaRPr b="0" i="0" sz="4000" u="none" cap="none" strike="noStrike">
              <a:solidFill>
                <a:schemeClr val="dk1"/>
              </a:solidFill>
              <a:latin typeface="Calibri"/>
              <a:ea typeface="Calibri"/>
              <a:cs typeface="Calibri"/>
              <a:sym typeface="Calibri"/>
            </a:endParaRPr>
          </a:p>
        </p:txBody>
      </p:sp>
      <p:sp>
        <p:nvSpPr>
          <p:cNvPr id="19" name="Google Shape;19;p3"/>
          <p:cNvSpPr txBox="1"/>
          <p:nvPr/>
        </p:nvSpPr>
        <p:spPr>
          <a:xfrm>
            <a:off x="640080" y="2811780"/>
            <a:ext cx="676656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Employee attrition prediction and segmentation</a:t>
            </a:r>
            <a:endParaRPr b="0" i="0" sz="1600" u="none" cap="none" strike="noStrike">
              <a:solidFill>
                <a:schemeClr val="dk1"/>
              </a:solidFill>
              <a:latin typeface="Calibri"/>
              <a:ea typeface="Calibri"/>
              <a:cs typeface="Calibri"/>
              <a:sym typeface="Calibri"/>
            </a:endParaRPr>
          </a:p>
        </p:txBody>
      </p:sp>
      <p:sp>
        <p:nvSpPr>
          <p:cNvPr id="20" name="Google Shape;20;p3"/>
          <p:cNvSpPr txBox="1"/>
          <p:nvPr/>
        </p:nvSpPr>
        <p:spPr>
          <a:xfrm>
            <a:off x="640080" y="3667658"/>
            <a:ext cx="786384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200"/>
              <a:buFont typeface="Calibri"/>
              <a:buNone/>
            </a:pPr>
            <a:r>
              <a:rPr b="1" i="0" lang="en-US" sz="1200" u="none" cap="none" strike="noStrike">
                <a:solidFill>
                  <a:srgbClr val="E4572E"/>
                </a:solidFill>
                <a:latin typeface="Calibri"/>
                <a:ea typeface="Calibri"/>
                <a:cs typeface="Calibri"/>
                <a:sym typeface="Calibri"/>
              </a:rPr>
              <a:t>GROUP 8   </a:t>
            </a:r>
            <a:r>
              <a:rPr b="0" i="0" lang="en-US" sz="1200" u="none" cap="none" strike="noStrike">
                <a:solidFill>
                  <a:srgbClr val="FFFFFF"/>
                </a:solidFill>
                <a:latin typeface="Calibri"/>
                <a:ea typeface="Calibri"/>
                <a:cs typeface="Calibri"/>
                <a:sym typeface="Calibri"/>
              </a:rPr>
              <a:t>Shimwa Uwase Sylvie · Ishimwe Divin Claudel · Mpayimana Iradukunda Robert · Hirwa Fabrice</a:t>
            </a:r>
            <a:endParaRPr b="0" i="0" sz="1200" u="none" cap="none" strike="noStrike">
              <a:solidFill>
                <a:schemeClr val="dk1"/>
              </a:solidFill>
              <a:latin typeface="Calibri"/>
              <a:ea typeface="Calibri"/>
              <a:cs typeface="Calibri"/>
              <a:sym typeface="Calibri"/>
            </a:endParaRPr>
          </a:p>
        </p:txBody>
      </p:sp>
      <p:sp>
        <p:nvSpPr>
          <p:cNvPr id="21" name="Google Shape;21;p3"/>
          <p:cNvSpPr txBox="1"/>
          <p:nvPr/>
        </p:nvSpPr>
        <p:spPr>
          <a:xfrm>
            <a:off x="640080" y="4095598"/>
            <a:ext cx="786384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Machine Learning  ·  Lecturer: Dr. Lema Logamou Seknewna  ·  September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THE PROBLEM</a:t>
            </a:r>
            <a:endParaRPr b="0" i="0" sz="1100" u="none" cap="none" strike="noStrike">
              <a:solidFill>
                <a:schemeClr val="dk1"/>
              </a:solidFill>
              <a:latin typeface="Calibri"/>
              <a:ea typeface="Calibri"/>
              <a:cs typeface="Calibri"/>
              <a:sym typeface="Calibri"/>
            </a:endParaRPr>
          </a:p>
        </p:txBody>
      </p:sp>
      <p:sp>
        <p:nvSpPr>
          <p:cNvPr id="28" name="Google Shape;28;p4"/>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Why attrition is worth modelling</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502920" y="1313993"/>
            <a:ext cx="384048" cy="384048"/>
          </a:xfrm>
          <a:prstGeom prst="ellipse">
            <a:avLst/>
          </a:prstGeom>
          <a:solidFill>
            <a:srgbClr val="E4572E"/>
          </a:solidFill>
          <a:ln cap="flat" cmpd="sng" w="12700">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txBox="1"/>
          <p:nvPr/>
        </p:nvSpPr>
        <p:spPr>
          <a:xfrm>
            <a:off x="502920" y="1313993"/>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1" name="Google Shape;31;p4"/>
          <p:cNvSpPr txBox="1"/>
          <p:nvPr/>
        </p:nvSpPr>
        <p:spPr>
          <a:xfrm>
            <a:off x="1024128" y="1292596"/>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Operational disruption</a:t>
            </a:r>
            <a:endParaRPr b="0" i="0" sz="1400" u="none" cap="none" strike="noStrike">
              <a:solidFill>
                <a:schemeClr val="dk1"/>
              </a:solidFill>
              <a:latin typeface="Calibri"/>
              <a:ea typeface="Calibri"/>
              <a:cs typeface="Calibri"/>
              <a:sym typeface="Calibri"/>
            </a:endParaRPr>
          </a:p>
        </p:txBody>
      </p:sp>
      <p:sp>
        <p:nvSpPr>
          <p:cNvPr id="32" name="Google Shape;32;p4"/>
          <p:cNvSpPr txBox="1"/>
          <p:nvPr/>
        </p:nvSpPr>
        <p:spPr>
          <a:xfrm>
            <a:off x="1024128" y="1538661"/>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Work stalls when a role sits empty.</a:t>
            </a:r>
            <a:endParaRPr b="0" i="0" sz="1150" u="none" cap="none" strike="noStrike">
              <a:solidFill>
                <a:schemeClr val="dk1"/>
              </a:solidFill>
              <a:latin typeface="Calibri"/>
              <a:ea typeface="Calibri"/>
              <a:cs typeface="Calibri"/>
              <a:sym typeface="Calibri"/>
            </a:endParaRPr>
          </a:p>
        </p:txBody>
      </p:sp>
      <p:sp>
        <p:nvSpPr>
          <p:cNvPr id="33" name="Google Shape;33;p4"/>
          <p:cNvSpPr/>
          <p:nvPr/>
        </p:nvSpPr>
        <p:spPr>
          <a:xfrm>
            <a:off x="502920" y="1987997"/>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txBox="1"/>
          <p:nvPr/>
        </p:nvSpPr>
        <p:spPr>
          <a:xfrm>
            <a:off x="502920" y="1987997"/>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5" name="Google Shape;35;p4"/>
          <p:cNvSpPr txBox="1"/>
          <p:nvPr/>
        </p:nvSpPr>
        <p:spPr>
          <a:xfrm>
            <a:off x="1024128" y="1966600"/>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Recruitment cost</a:t>
            </a:r>
            <a:endParaRPr b="0" i="0" sz="1400" u="none" cap="none" strike="noStrike">
              <a:solidFill>
                <a:schemeClr val="dk1"/>
              </a:solidFill>
              <a:latin typeface="Calibri"/>
              <a:ea typeface="Calibri"/>
              <a:cs typeface="Calibri"/>
              <a:sym typeface="Calibri"/>
            </a:endParaRPr>
          </a:p>
        </p:txBody>
      </p:sp>
      <p:sp>
        <p:nvSpPr>
          <p:cNvPr id="36" name="Google Shape;36;p4"/>
          <p:cNvSpPr txBox="1"/>
          <p:nvPr/>
        </p:nvSpPr>
        <p:spPr>
          <a:xfrm>
            <a:off x="1024128" y="2212665"/>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Sourcing, interviewing and onboarding a replacement.</a:t>
            </a:r>
            <a:endParaRPr b="0" i="0" sz="1150" u="none" cap="none" strike="noStrike">
              <a:solidFill>
                <a:schemeClr val="dk1"/>
              </a:solidFill>
              <a:latin typeface="Calibri"/>
              <a:ea typeface="Calibri"/>
              <a:cs typeface="Calibri"/>
              <a:sym typeface="Calibri"/>
            </a:endParaRPr>
          </a:p>
        </p:txBody>
      </p:sp>
      <p:sp>
        <p:nvSpPr>
          <p:cNvPr id="37" name="Google Shape;37;p4"/>
          <p:cNvSpPr/>
          <p:nvPr/>
        </p:nvSpPr>
        <p:spPr>
          <a:xfrm>
            <a:off x="502920" y="2662001"/>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txBox="1"/>
          <p:nvPr/>
        </p:nvSpPr>
        <p:spPr>
          <a:xfrm>
            <a:off x="502920" y="2662001"/>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9" name="Google Shape;39;p4"/>
          <p:cNvSpPr txBox="1"/>
          <p:nvPr/>
        </p:nvSpPr>
        <p:spPr>
          <a:xfrm>
            <a:off x="1024128" y="2640604"/>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Knowledge loss</a:t>
            </a:r>
            <a:endParaRPr b="0" i="0" sz="1400" u="none" cap="none" strike="noStrike">
              <a:solidFill>
                <a:schemeClr val="dk1"/>
              </a:solidFill>
              <a:latin typeface="Calibri"/>
              <a:ea typeface="Calibri"/>
              <a:cs typeface="Calibri"/>
              <a:sym typeface="Calibri"/>
            </a:endParaRPr>
          </a:p>
        </p:txBody>
      </p:sp>
      <p:sp>
        <p:nvSpPr>
          <p:cNvPr id="40" name="Google Shape;40;p4"/>
          <p:cNvSpPr txBox="1"/>
          <p:nvPr/>
        </p:nvSpPr>
        <p:spPr>
          <a:xfrm>
            <a:off x="1024128" y="2886669"/>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Experience and client relationships walk out the door.</a:t>
            </a:r>
            <a:endParaRPr b="0" i="0" sz="1150" u="none" cap="none" strike="noStrike">
              <a:solidFill>
                <a:schemeClr val="dk1"/>
              </a:solidFill>
              <a:latin typeface="Calibri"/>
              <a:ea typeface="Calibri"/>
              <a:cs typeface="Calibri"/>
              <a:sym typeface="Calibri"/>
            </a:endParaRPr>
          </a:p>
        </p:txBody>
      </p:sp>
      <p:sp>
        <p:nvSpPr>
          <p:cNvPr id="41" name="Google Shape;41;p4"/>
          <p:cNvSpPr/>
          <p:nvPr/>
        </p:nvSpPr>
        <p:spPr>
          <a:xfrm>
            <a:off x="502920" y="3336006"/>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txBox="1"/>
          <p:nvPr/>
        </p:nvSpPr>
        <p:spPr>
          <a:xfrm>
            <a:off x="502920" y="333600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43" name="Google Shape;43;p4"/>
          <p:cNvSpPr txBox="1"/>
          <p:nvPr/>
        </p:nvSpPr>
        <p:spPr>
          <a:xfrm>
            <a:off x="1024128" y="3314609"/>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Pressure on the team</a:t>
            </a:r>
            <a:endParaRPr b="0" i="0" sz="1400" u="none" cap="none" strike="noStrike">
              <a:solidFill>
                <a:schemeClr val="dk1"/>
              </a:solidFill>
              <a:latin typeface="Calibri"/>
              <a:ea typeface="Calibri"/>
              <a:cs typeface="Calibri"/>
              <a:sym typeface="Calibri"/>
            </a:endParaRPr>
          </a:p>
        </p:txBody>
      </p:sp>
      <p:sp>
        <p:nvSpPr>
          <p:cNvPr id="44" name="Google Shape;44;p4"/>
          <p:cNvSpPr txBox="1"/>
          <p:nvPr/>
        </p:nvSpPr>
        <p:spPr>
          <a:xfrm>
            <a:off x="1024128" y="3560674"/>
            <a:ext cx="39319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Remaining staff absorb the extra workload.</a:t>
            </a:r>
            <a:endParaRPr b="0" i="0" sz="1150" u="none" cap="none" strike="noStrike">
              <a:solidFill>
                <a:schemeClr val="dk1"/>
              </a:solidFill>
              <a:latin typeface="Calibri"/>
              <a:ea typeface="Calibri"/>
              <a:cs typeface="Calibri"/>
              <a:sym typeface="Calibri"/>
            </a:endParaRPr>
          </a:p>
        </p:txBody>
      </p:sp>
      <p:sp>
        <p:nvSpPr>
          <p:cNvPr id="45" name="Google Shape;45;p4"/>
          <p:cNvSpPr/>
          <p:nvPr/>
        </p:nvSpPr>
        <p:spPr>
          <a:xfrm>
            <a:off x="5349240" y="1260500"/>
            <a:ext cx="3291840" cy="3049067"/>
          </a:xfrm>
          <a:prstGeom prst="roundRect">
            <a:avLst>
              <a:gd fmla="val 2399"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txBox="1"/>
          <p:nvPr/>
        </p:nvSpPr>
        <p:spPr>
          <a:xfrm>
            <a:off x="5623560" y="1527962"/>
            <a:ext cx="274320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050"/>
              <a:buFont typeface="Calibri"/>
              <a:buNone/>
            </a:pPr>
            <a:r>
              <a:rPr b="1" i="0" lang="en-US" sz="1050" u="none" cap="none" strike="noStrike">
                <a:solidFill>
                  <a:srgbClr val="E4572E"/>
                </a:solidFill>
                <a:latin typeface="Calibri"/>
                <a:ea typeface="Calibri"/>
                <a:cs typeface="Calibri"/>
                <a:sym typeface="Calibri"/>
              </a:rPr>
              <a:t>OUR BUSINESS QUESTION</a:t>
            </a:r>
            <a:endParaRPr b="0" i="0" sz="1050" u="none" cap="none" strike="noStrike">
              <a:solidFill>
                <a:schemeClr val="dk1"/>
              </a:solidFill>
              <a:latin typeface="Calibri"/>
              <a:ea typeface="Calibri"/>
              <a:cs typeface="Calibri"/>
              <a:sym typeface="Calibri"/>
            </a:endParaRPr>
          </a:p>
        </p:txBody>
      </p:sp>
      <p:sp>
        <p:nvSpPr>
          <p:cNvPr id="47" name="Google Shape;47;p4"/>
          <p:cNvSpPr txBox="1"/>
          <p:nvPr/>
        </p:nvSpPr>
        <p:spPr>
          <a:xfrm>
            <a:off x="5623560" y="1955902"/>
            <a:ext cx="2743200" cy="2139696"/>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FFFFFF"/>
              </a:buClr>
              <a:buSzPts val="1500"/>
              <a:buFont typeface="Cambria"/>
              <a:buNone/>
            </a:pPr>
            <a:r>
              <a:rPr b="0" i="0" lang="en-US" sz="1500" u="none" cap="none" strike="noStrike">
                <a:solidFill>
                  <a:srgbClr val="FFFFFF"/>
                </a:solidFill>
                <a:latin typeface="Cambria"/>
                <a:ea typeface="Cambria"/>
                <a:cs typeface="Cambria"/>
                <a:sym typeface="Cambria"/>
              </a:rPr>
              <a:t>Which employee characteristics and segments are associated with attrition — and can machine learning usefully predict who is likely to leave?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5"/>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THE DATA</a:t>
            </a:r>
            <a:endParaRPr b="0" i="0" sz="1100" u="none" cap="none" strike="noStrike">
              <a:solidFill>
                <a:schemeClr val="dk1"/>
              </a:solidFill>
              <a:latin typeface="Calibri"/>
              <a:ea typeface="Calibri"/>
              <a:cs typeface="Calibri"/>
              <a:sym typeface="Calibri"/>
            </a:endParaRPr>
          </a:p>
        </p:txBody>
      </p:sp>
      <p:sp>
        <p:nvSpPr>
          <p:cNvPr id="54" name="Google Shape;54;p5"/>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1,470 employees, 35 variables</a:t>
            </a:r>
            <a:endParaRPr b="0" i="0" sz="3000" u="none" cap="none" strike="noStrike">
              <a:solidFill>
                <a:schemeClr val="dk1"/>
              </a:solidFill>
              <a:latin typeface="Calibri"/>
              <a:ea typeface="Calibri"/>
              <a:cs typeface="Calibri"/>
              <a:sym typeface="Calibri"/>
            </a:endParaRPr>
          </a:p>
        </p:txBody>
      </p:sp>
      <p:sp>
        <p:nvSpPr>
          <p:cNvPr id="55" name="Google Shape;55;p5"/>
          <p:cNvSpPr/>
          <p:nvPr/>
        </p:nvSpPr>
        <p:spPr>
          <a:xfrm>
            <a:off x="502920" y="1260500"/>
            <a:ext cx="1417320" cy="1283818"/>
          </a:xfrm>
          <a:prstGeom prst="roundRect">
            <a:avLst>
              <a:gd fmla="val 569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txBox="1"/>
          <p:nvPr/>
        </p:nvSpPr>
        <p:spPr>
          <a:xfrm>
            <a:off x="502920" y="1388882"/>
            <a:ext cx="1417320" cy="5884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1,470</a:t>
            </a:r>
            <a:endParaRPr b="0" i="0" sz="2600" u="none" cap="none" strike="noStrike">
              <a:solidFill>
                <a:schemeClr val="dk1"/>
              </a:solidFill>
              <a:latin typeface="Calibri"/>
              <a:ea typeface="Calibri"/>
              <a:cs typeface="Calibri"/>
              <a:sym typeface="Calibri"/>
            </a:endParaRPr>
          </a:p>
        </p:txBody>
      </p:sp>
      <p:sp>
        <p:nvSpPr>
          <p:cNvPr id="57" name="Google Shape;57;p5"/>
          <p:cNvSpPr txBox="1"/>
          <p:nvPr/>
        </p:nvSpPr>
        <p:spPr>
          <a:xfrm>
            <a:off x="502920" y="2009394"/>
            <a:ext cx="1417320" cy="37444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employee records</a:t>
            </a:r>
            <a:endParaRPr b="0" i="0" sz="1050" u="none" cap="none" strike="noStrike">
              <a:solidFill>
                <a:schemeClr val="dk1"/>
              </a:solidFill>
              <a:latin typeface="Calibri"/>
              <a:ea typeface="Calibri"/>
              <a:cs typeface="Calibri"/>
              <a:sym typeface="Calibri"/>
            </a:endParaRPr>
          </a:p>
        </p:txBody>
      </p:sp>
      <p:sp>
        <p:nvSpPr>
          <p:cNvPr id="58" name="Google Shape;58;p5"/>
          <p:cNvSpPr/>
          <p:nvPr/>
        </p:nvSpPr>
        <p:spPr>
          <a:xfrm>
            <a:off x="2075688" y="1260500"/>
            <a:ext cx="1417320" cy="1283818"/>
          </a:xfrm>
          <a:prstGeom prst="roundRect">
            <a:avLst>
              <a:gd fmla="val 569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txBox="1"/>
          <p:nvPr/>
        </p:nvSpPr>
        <p:spPr>
          <a:xfrm>
            <a:off x="2075688" y="1388882"/>
            <a:ext cx="1417320" cy="5884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35</a:t>
            </a:r>
            <a:endParaRPr b="0" i="0" sz="2600" u="none" cap="none" strike="noStrike">
              <a:solidFill>
                <a:schemeClr val="dk1"/>
              </a:solidFill>
              <a:latin typeface="Calibri"/>
              <a:ea typeface="Calibri"/>
              <a:cs typeface="Calibri"/>
              <a:sym typeface="Calibri"/>
            </a:endParaRPr>
          </a:p>
        </p:txBody>
      </p:sp>
      <p:sp>
        <p:nvSpPr>
          <p:cNvPr id="60" name="Google Shape;60;p5"/>
          <p:cNvSpPr txBox="1"/>
          <p:nvPr/>
        </p:nvSpPr>
        <p:spPr>
          <a:xfrm>
            <a:off x="2075688" y="2009394"/>
            <a:ext cx="1417320" cy="37444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original variables</a:t>
            </a:r>
            <a:endParaRPr b="0" i="0" sz="1050" u="none" cap="none" strike="noStrike">
              <a:solidFill>
                <a:schemeClr val="dk1"/>
              </a:solidFill>
              <a:latin typeface="Calibri"/>
              <a:ea typeface="Calibri"/>
              <a:cs typeface="Calibri"/>
              <a:sym typeface="Calibri"/>
            </a:endParaRPr>
          </a:p>
        </p:txBody>
      </p:sp>
      <p:sp>
        <p:nvSpPr>
          <p:cNvPr id="61" name="Google Shape;61;p5"/>
          <p:cNvSpPr/>
          <p:nvPr/>
        </p:nvSpPr>
        <p:spPr>
          <a:xfrm>
            <a:off x="3648456" y="1260500"/>
            <a:ext cx="1417320" cy="1283818"/>
          </a:xfrm>
          <a:prstGeom prst="roundRect">
            <a:avLst>
              <a:gd fmla="val 569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txBox="1"/>
          <p:nvPr/>
        </p:nvSpPr>
        <p:spPr>
          <a:xfrm>
            <a:off x="3648456" y="1388882"/>
            <a:ext cx="1417320" cy="5884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4572E"/>
              </a:buClr>
              <a:buSzPts val="2600"/>
              <a:buFont typeface="Cambria"/>
              <a:buNone/>
            </a:pPr>
            <a:r>
              <a:rPr b="1" i="0" lang="en-US" sz="2600" u="none" cap="none" strike="noStrike">
                <a:solidFill>
                  <a:srgbClr val="E4572E"/>
                </a:solidFill>
                <a:latin typeface="Cambria"/>
                <a:ea typeface="Cambria"/>
                <a:cs typeface="Cambria"/>
                <a:sym typeface="Cambria"/>
              </a:rPr>
              <a:t>16.12%</a:t>
            </a:r>
            <a:endParaRPr b="0" i="0" sz="2600" u="none" cap="none" strike="noStrike">
              <a:solidFill>
                <a:schemeClr val="dk1"/>
              </a:solidFill>
              <a:latin typeface="Calibri"/>
              <a:ea typeface="Calibri"/>
              <a:cs typeface="Calibri"/>
              <a:sym typeface="Calibri"/>
            </a:endParaRPr>
          </a:p>
        </p:txBody>
      </p:sp>
      <p:sp>
        <p:nvSpPr>
          <p:cNvPr id="63" name="Google Shape;63;p5"/>
          <p:cNvSpPr txBox="1"/>
          <p:nvPr/>
        </p:nvSpPr>
        <p:spPr>
          <a:xfrm>
            <a:off x="3648456" y="2009394"/>
            <a:ext cx="1417320" cy="37444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left the company</a:t>
            </a:r>
            <a:endParaRPr b="0" i="0" sz="1050" u="none" cap="none" strike="noStrike">
              <a:solidFill>
                <a:schemeClr val="dk1"/>
              </a:solidFill>
              <a:latin typeface="Calibri"/>
              <a:ea typeface="Calibri"/>
              <a:cs typeface="Calibri"/>
              <a:sym typeface="Calibri"/>
            </a:endParaRPr>
          </a:p>
        </p:txBody>
      </p:sp>
      <p:sp>
        <p:nvSpPr>
          <p:cNvPr id="64" name="Google Shape;64;p5"/>
          <p:cNvSpPr txBox="1"/>
          <p:nvPr/>
        </p:nvSpPr>
        <p:spPr>
          <a:xfrm>
            <a:off x="502920" y="2811780"/>
            <a:ext cx="4480560" cy="962863"/>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1B2333"/>
              </a:buClr>
              <a:buSzPts val="1250"/>
              <a:buFont typeface="Calibri"/>
              <a:buNone/>
            </a:pPr>
            <a:r>
              <a:rPr b="1" i="0" lang="en-US" sz="1250" u="none" cap="none" strike="noStrike">
                <a:solidFill>
                  <a:srgbClr val="1B2333"/>
                </a:solidFill>
                <a:latin typeface="Calibri"/>
                <a:ea typeface="Calibri"/>
                <a:cs typeface="Calibri"/>
                <a:sym typeface="Calibri"/>
              </a:rPr>
              <a:t>IBM HR Analytics Employee Attrition &amp; Performance</a:t>
            </a:r>
            <a:r>
              <a:rPr b="0" i="0" lang="en-US" sz="1250" u="none" cap="none" strike="noStrike">
                <a:solidFill>
                  <a:srgbClr val="1B2333"/>
                </a:solidFill>
                <a:latin typeface="Calibri"/>
                <a:ea typeface="Calibri"/>
                <a:cs typeface="Calibri"/>
                <a:sym typeface="Calibri"/>
              </a:rPr>
              <a:t> — a public, synthetic dataset covering demographics, job information, satisfaction ratings, compensation, workload and tenure.</a:t>
            </a:r>
            <a:endParaRPr b="0" i="0" sz="1250" u="none" cap="none" strike="noStrike">
              <a:solidFill>
                <a:schemeClr val="dk1"/>
              </a:solidFill>
              <a:latin typeface="Calibri"/>
              <a:ea typeface="Calibri"/>
              <a:cs typeface="Calibri"/>
              <a:sym typeface="Calibri"/>
            </a:endParaRPr>
          </a:p>
        </p:txBody>
      </p:sp>
      <p:sp>
        <p:nvSpPr>
          <p:cNvPr id="65" name="Google Shape;65;p5"/>
          <p:cNvSpPr txBox="1"/>
          <p:nvPr/>
        </p:nvSpPr>
        <p:spPr>
          <a:xfrm>
            <a:off x="502920" y="3774643"/>
            <a:ext cx="44805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Target: Attrition  (0 = Stayed, 1 = Left)</a:t>
            </a:r>
            <a:endParaRPr b="0" i="0" sz="1200" u="none" cap="none" strike="noStrike">
              <a:solidFill>
                <a:schemeClr val="dk1"/>
              </a:solidFill>
              <a:latin typeface="Calibri"/>
              <a:ea typeface="Calibri"/>
              <a:cs typeface="Calibri"/>
              <a:sym typeface="Calibri"/>
            </a:endParaRPr>
          </a:p>
        </p:txBody>
      </p:sp>
      <p:pic>
        <p:nvPicPr>
          <p:cNvPr id="66" name="Google Shape;66;p5"/>
          <p:cNvPicPr preferRelativeResize="0"/>
          <p:nvPr/>
        </p:nvPicPr>
        <p:blipFill rotWithShape="1">
          <a:blip r:embed="rId3">
            <a:alphaModFix/>
          </a:blip>
          <a:srcRect b="0" l="0" r="0" t="0"/>
          <a:stretch/>
        </p:blipFill>
        <p:spPr>
          <a:xfrm>
            <a:off x="5212080" y="1207008"/>
            <a:ext cx="3474720" cy="310255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6"/>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DATA PREPARATION</a:t>
            </a:r>
            <a:endParaRPr b="0" i="0" sz="1100" u="none" cap="none" strike="noStrike">
              <a:solidFill>
                <a:schemeClr val="dk1"/>
              </a:solidFill>
              <a:latin typeface="Calibri"/>
              <a:ea typeface="Calibri"/>
              <a:cs typeface="Calibri"/>
              <a:sym typeface="Calibri"/>
            </a:endParaRPr>
          </a:p>
        </p:txBody>
      </p:sp>
      <p:sp>
        <p:nvSpPr>
          <p:cNvPr id="73" name="Google Shape;73;p6"/>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What we checked before modelling</a:t>
            </a:r>
            <a:endParaRPr b="0" i="0" sz="3000" u="none" cap="none" strike="noStrike">
              <a:solidFill>
                <a:schemeClr val="dk1"/>
              </a:solidFill>
              <a:latin typeface="Calibri"/>
              <a:ea typeface="Calibri"/>
              <a:cs typeface="Calibri"/>
              <a:sym typeface="Calibri"/>
            </a:endParaRPr>
          </a:p>
        </p:txBody>
      </p:sp>
      <p:sp>
        <p:nvSpPr>
          <p:cNvPr id="74" name="Google Shape;74;p6"/>
          <p:cNvSpPr/>
          <p:nvPr/>
        </p:nvSpPr>
        <p:spPr>
          <a:xfrm>
            <a:off x="502920" y="1260500"/>
            <a:ext cx="3977640" cy="909371"/>
          </a:xfrm>
          <a:prstGeom prst="roundRect">
            <a:avLst>
              <a:gd fmla="val 8044"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txBox="1"/>
          <p:nvPr/>
        </p:nvSpPr>
        <p:spPr>
          <a:xfrm>
            <a:off x="685800" y="1378184"/>
            <a:ext cx="365760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Missing values</a:t>
            </a:r>
            <a:endParaRPr b="0" i="0" sz="1300" u="none" cap="none" strike="noStrike">
              <a:solidFill>
                <a:schemeClr val="dk1"/>
              </a:solidFill>
              <a:latin typeface="Calibri"/>
              <a:ea typeface="Calibri"/>
              <a:cs typeface="Calibri"/>
              <a:sym typeface="Calibri"/>
            </a:endParaRPr>
          </a:p>
        </p:txBody>
      </p:sp>
      <p:sp>
        <p:nvSpPr>
          <p:cNvPr id="76" name="Google Shape;76;p6"/>
          <p:cNvSpPr txBox="1"/>
          <p:nvPr/>
        </p:nvSpPr>
        <p:spPr>
          <a:xfrm>
            <a:off x="685800" y="1688440"/>
            <a:ext cx="365760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None found</a:t>
            </a:r>
            <a:endParaRPr b="0" i="0" sz="1150" u="none" cap="none" strike="noStrike">
              <a:solidFill>
                <a:schemeClr val="dk1"/>
              </a:solidFill>
              <a:latin typeface="Calibri"/>
              <a:ea typeface="Calibri"/>
              <a:cs typeface="Calibri"/>
              <a:sym typeface="Calibri"/>
            </a:endParaRPr>
          </a:p>
        </p:txBody>
      </p:sp>
      <p:sp>
        <p:nvSpPr>
          <p:cNvPr id="77" name="Google Shape;77;p6"/>
          <p:cNvSpPr/>
          <p:nvPr/>
        </p:nvSpPr>
        <p:spPr>
          <a:xfrm>
            <a:off x="4663440" y="1260500"/>
            <a:ext cx="3977640" cy="909371"/>
          </a:xfrm>
          <a:prstGeom prst="roundRect">
            <a:avLst>
              <a:gd fmla="val 8044"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txBox="1"/>
          <p:nvPr/>
        </p:nvSpPr>
        <p:spPr>
          <a:xfrm>
            <a:off x="4846320" y="1378184"/>
            <a:ext cx="365760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Duplicate rows</a:t>
            </a:r>
            <a:endParaRPr b="0" i="0" sz="1300" u="none" cap="none" strike="noStrike">
              <a:solidFill>
                <a:schemeClr val="dk1"/>
              </a:solidFill>
              <a:latin typeface="Calibri"/>
              <a:ea typeface="Calibri"/>
              <a:cs typeface="Calibri"/>
              <a:sym typeface="Calibri"/>
            </a:endParaRPr>
          </a:p>
        </p:txBody>
      </p:sp>
      <p:sp>
        <p:nvSpPr>
          <p:cNvPr id="79" name="Google Shape;79;p6"/>
          <p:cNvSpPr txBox="1"/>
          <p:nvPr/>
        </p:nvSpPr>
        <p:spPr>
          <a:xfrm>
            <a:off x="4846320" y="1688440"/>
            <a:ext cx="365760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None found</a:t>
            </a:r>
            <a:endParaRPr b="0" i="0" sz="1150" u="none" cap="none" strike="noStrike">
              <a:solidFill>
                <a:schemeClr val="dk1"/>
              </a:solidFill>
              <a:latin typeface="Calibri"/>
              <a:ea typeface="Calibri"/>
              <a:cs typeface="Calibri"/>
              <a:sym typeface="Calibri"/>
            </a:endParaRPr>
          </a:p>
        </p:txBody>
      </p:sp>
      <p:sp>
        <p:nvSpPr>
          <p:cNvPr id="80" name="Google Shape;80;p6"/>
          <p:cNvSpPr/>
          <p:nvPr/>
        </p:nvSpPr>
        <p:spPr>
          <a:xfrm>
            <a:off x="502920" y="2330348"/>
            <a:ext cx="3977640" cy="909371"/>
          </a:xfrm>
          <a:prstGeom prst="roundRect">
            <a:avLst>
              <a:gd fmla="val 8044"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txBox="1"/>
          <p:nvPr/>
        </p:nvSpPr>
        <p:spPr>
          <a:xfrm>
            <a:off x="685800" y="2448032"/>
            <a:ext cx="365760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Constant columns</a:t>
            </a:r>
            <a:endParaRPr b="0" i="0" sz="1300" u="none" cap="none" strike="noStrike">
              <a:solidFill>
                <a:schemeClr val="dk1"/>
              </a:solidFill>
              <a:latin typeface="Calibri"/>
              <a:ea typeface="Calibri"/>
              <a:cs typeface="Calibri"/>
              <a:sym typeface="Calibri"/>
            </a:endParaRPr>
          </a:p>
        </p:txBody>
      </p:sp>
      <p:sp>
        <p:nvSpPr>
          <p:cNvPr id="82" name="Google Shape;82;p6"/>
          <p:cNvSpPr txBox="1"/>
          <p:nvPr/>
        </p:nvSpPr>
        <p:spPr>
          <a:xfrm>
            <a:off x="685800" y="2758288"/>
            <a:ext cx="365760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EmployeeCount, Over18, StandardHours — dropped</a:t>
            </a:r>
            <a:endParaRPr b="0" i="0" sz="1150" u="none" cap="none" strike="noStrike">
              <a:solidFill>
                <a:schemeClr val="dk1"/>
              </a:solidFill>
              <a:latin typeface="Calibri"/>
              <a:ea typeface="Calibri"/>
              <a:cs typeface="Calibri"/>
              <a:sym typeface="Calibri"/>
            </a:endParaRPr>
          </a:p>
        </p:txBody>
      </p:sp>
      <p:sp>
        <p:nvSpPr>
          <p:cNvPr id="83" name="Google Shape;83;p6"/>
          <p:cNvSpPr/>
          <p:nvPr/>
        </p:nvSpPr>
        <p:spPr>
          <a:xfrm>
            <a:off x="4663440" y="2330348"/>
            <a:ext cx="3977640" cy="909371"/>
          </a:xfrm>
          <a:prstGeom prst="roundRect">
            <a:avLst>
              <a:gd fmla="val 8044"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txBox="1"/>
          <p:nvPr/>
        </p:nvSpPr>
        <p:spPr>
          <a:xfrm>
            <a:off x="4846320" y="2448032"/>
            <a:ext cx="365760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Identifier</a:t>
            </a:r>
            <a:endParaRPr b="0" i="0" sz="1300" u="none" cap="none" strike="noStrike">
              <a:solidFill>
                <a:schemeClr val="dk1"/>
              </a:solidFill>
              <a:latin typeface="Calibri"/>
              <a:ea typeface="Calibri"/>
              <a:cs typeface="Calibri"/>
              <a:sym typeface="Calibri"/>
            </a:endParaRPr>
          </a:p>
        </p:txBody>
      </p:sp>
      <p:sp>
        <p:nvSpPr>
          <p:cNvPr id="85" name="Google Shape;85;p6"/>
          <p:cNvSpPr txBox="1"/>
          <p:nvPr/>
        </p:nvSpPr>
        <p:spPr>
          <a:xfrm>
            <a:off x="4846320" y="2758288"/>
            <a:ext cx="365760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EmployeeNumber dropped: a tag, not a characteristic</a:t>
            </a:r>
            <a:endParaRPr b="0" i="0" sz="1150" u="none" cap="none" strike="noStrike">
              <a:solidFill>
                <a:schemeClr val="dk1"/>
              </a:solidFill>
              <a:latin typeface="Calibri"/>
              <a:ea typeface="Calibri"/>
              <a:cs typeface="Calibri"/>
              <a:sym typeface="Calibri"/>
            </a:endParaRPr>
          </a:p>
        </p:txBody>
      </p:sp>
      <p:sp>
        <p:nvSpPr>
          <p:cNvPr id="86" name="Google Shape;86;p6"/>
          <p:cNvSpPr/>
          <p:nvPr/>
        </p:nvSpPr>
        <p:spPr>
          <a:xfrm>
            <a:off x="502920" y="3400196"/>
            <a:ext cx="3977640" cy="909371"/>
          </a:xfrm>
          <a:prstGeom prst="roundRect">
            <a:avLst>
              <a:gd fmla="val 8044"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txBox="1"/>
          <p:nvPr/>
        </p:nvSpPr>
        <p:spPr>
          <a:xfrm>
            <a:off x="685800" y="3517880"/>
            <a:ext cx="365760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Outliers</a:t>
            </a:r>
            <a:endParaRPr b="0" i="0" sz="1300" u="none" cap="none" strike="noStrike">
              <a:solidFill>
                <a:schemeClr val="dk1"/>
              </a:solidFill>
              <a:latin typeface="Calibri"/>
              <a:ea typeface="Calibri"/>
              <a:cs typeface="Calibri"/>
              <a:sym typeface="Calibri"/>
            </a:endParaRPr>
          </a:p>
        </p:txBody>
      </p:sp>
      <p:sp>
        <p:nvSpPr>
          <p:cNvPr id="88" name="Google Shape;88;p6"/>
          <p:cNvSpPr txBox="1"/>
          <p:nvPr/>
        </p:nvSpPr>
        <p:spPr>
          <a:xfrm>
            <a:off x="685800" y="3828136"/>
            <a:ext cx="365760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Investigated, then kept — extreme is not the same as wrong</a:t>
            </a:r>
            <a:endParaRPr b="0" i="0" sz="1150" u="none" cap="none" strike="noStrike">
              <a:solidFill>
                <a:schemeClr val="dk1"/>
              </a:solidFill>
              <a:latin typeface="Calibri"/>
              <a:ea typeface="Calibri"/>
              <a:cs typeface="Calibri"/>
              <a:sym typeface="Calibri"/>
            </a:endParaRPr>
          </a:p>
        </p:txBody>
      </p:sp>
      <p:sp>
        <p:nvSpPr>
          <p:cNvPr id="89" name="Google Shape;89;p6"/>
          <p:cNvSpPr/>
          <p:nvPr/>
        </p:nvSpPr>
        <p:spPr>
          <a:xfrm>
            <a:off x="4663440" y="3400196"/>
            <a:ext cx="3977640" cy="909371"/>
          </a:xfrm>
          <a:prstGeom prst="roundRect">
            <a:avLst>
              <a:gd fmla="val 8044"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txBox="1"/>
          <p:nvPr/>
        </p:nvSpPr>
        <p:spPr>
          <a:xfrm>
            <a:off x="4846320" y="3517880"/>
            <a:ext cx="365760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Encoding</a:t>
            </a:r>
            <a:endParaRPr b="0" i="0" sz="1300" u="none" cap="none" strike="noStrike">
              <a:solidFill>
                <a:schemeClr val="dk1"/>
              </a:solidFill>
              <a:latin typeface="Calibri"/>
              <a:ea typeface="Calibri"/>
              <a:cs typeface="Calibri"/>
              <a:sym typeface="Calibri"/>
            </a:endParaRPr>
          </a:p>
        </p:txBody>
      </p:sp>
      <p:sp>
        <p:nvSpPr>
          <p:cNvPr id="91" name="Google Shape;91;p6"/>
          <p:cNvSpPr txBox="1"/>
          <p:nvPr/>
        </p:nvSpPr>
        <p:spPr>
          <a:xfrm>
            <a:off x="4846320" y="3828136"/>
            <a:ext cx="365760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Text categories converted to numbers: 31 → 45 columns</a:t>
            </a:r>
            <a:endParaRPr b="0" i="0" sz="1150" u="none" cap="none" strike="noStrike">
              <a:solidFill>
                <a:schemeClr val="dk1"/>
              </a:solidFill>
              <a:latin typeface="Calibri"/>
              <a:ea typeface="Calibri"/>
              <a:cs typeface="Calibri"/>
              <a:sym typeface="Calibri"/>
            </a:endParaRPr>
          </a:p>
        </p:txBody>
      </p:sp>
      <p:sp>
        <p:nvSpPr>
          <p:cNvPr id="92" name="Google Shape;92;p6"/>
          <p:cNvSpPr txBox="1"/>
          <p:nvPr/>
        </p:nvSpPr>
        <p:spPr>
          <a:xfrm>
            <a:off x="502920" y="4363060"/>
            <a:ext cx="813816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200"/>
              <a:buFont typeface="Calibri"/>
              <a:buNone/>
            </a:pPr>
            <a:r>
              <a:rPr b="0" i="1" lang="en-US" sz="1200" u="none" cap="none" strike="noStrike">
                <a:solidFill>
                  <a:srgbClr val="1B2333"/>
                </a:solidFill>
                <a:latin typeface="Calibri"/>
                <a:ea typeface="Calibri"/>
                <a:cs typeface="Calibri"/>
                <a:sym typeface="Calibri"/>
              </a:rPr>
              <a:t>All scaling and encoding for the predictive models runs inside a pipeline fitted on the training data only — so the test set never leaks into training.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7"/>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EXPLORATORY ANALYSIS</a:t>
            </a:r>
            <a:endParaRPr b="0" i="0" sz="1100" u="none" cap="none" strike="noStrike">
              <a:solidFill>
                <a:schemeClr val="dk1"/>
              </a:solidFill>
              <a:latin typeface="Calibri"/>
              <a:ea typeface="Calibri"/>
              <a:cs typeface="Calibri"/>
              <a:sym typeface="Calibri"/>
            </a:endParaRPr>
          </a:p>
        </p:txBody>
      </p:sp>
      <p:sp>
        <p:nvSpPr>
          <p:cNvPr id="99" name="Google Shape;99;p7"/>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No single factor explains attrition</a:t>
            </a:r>
            <a:endParaRPr b="0" i="0" sz="3000" u="none" cap="none" strike="noStrike">
              <a:solidFill>
                <a:schemeClr val="dk1"/>
              </a:solidFill>
              <a:latin typeface="Calibri"/>
              <a:ea typeface="Calibri"/>
              <a:cs typeface="Calibri"/>
              <a:sym typeface="Calibri"/>
            </a:endParaRPr>
          </a:p>
        </p:txBody>
      </p:sp>
      <p:pic>
        <p:nvPicPr>
          <p:cNvPr id="100" name="Google Shape;100;p7"/>
          <p:cNvPicPr preferRelativeResize="0"/>
          <p:nvPr/>
        </p:nvPicPr>
        <p:blipFill rotWithShape="1">
          <a:blip r:embed="rId3">
            <a:alphaModFix/>
          </a:blip>
          <a:srcRect b="0" l="0" r="0" t="0"/>
          <a:stretch/>
        </p:blipFill>
        <p:spPr>
          <a:xfrm>
            <a:off x="457200" y="1260500"/>
            <a:ext cx="5029200" cy="3316529"/>
          </a:xfrm>
          <a:prstGeom prst="rect">
            <a:avLst/>
          </a:prstGeom>
          <a:noFill/>
          <a:ln>
            <a:noFill/>
          </a:ln>
        </p:spPr>
      </p:pic>
      <p:sp>
        <p:nvSpPr>
          <p:cNvPr id="101" name="Google Shape;101;p7"/>
          <p:cNvSpPr/>
          <p:nvPr/>
        </p:nvSpPr>
        <p:spPr>
          <a:xfrm>
            <a:off x="5669280" y="1260500"/>
            <a:ext cx="3017520" cy="3316529"/>
          </a:xfrm>
          <a:prstGeom prst="roundRect">
            <a:avLst>
              <a:gd fmla="val 2424"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txBox="1"/>
          <p:nvPr/>
        </p:nvSpPr>
        <p:spPr>
          <a:xfrm>
            <a:off x="5943600" y="1474470"/>
            <a:ext cx="251460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Reading the heatmap</a:t>
            </a:r>
            <a:endParaRPr b="0" i="0" sz="1300" u="none" cap="none" strike="noStrike">
              <a:solidFill>
                <a:schemeClr val="dk1"/>
              </a:solidFill>
              <a:latin typeface="Calibri"/>
              <a:ea typeface="Calibri"/>
              <a:cs typeface="Calibri"/>
              <a:sym typeface="Calibri"/>
            </a:endParaRPr>
          </a:p>
        </p:txBody>
      </p:sp>
      <p:sp>
        <p:nvSpPr>
          <p:cNvPr id="103" name="Google Shape;103;p7"/>
          <p:cNvSpPr txBox="1"/>
          <p:nvPr/>
        </p:nvSpPr>
        <p:spPr>
          <a:xfrm>
            <a:off x="5943600" y="1902409"/>
            <a:ext cx="2514600" cy="246065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333"/>
              </a:buClr>
              <a:buSzPts val="1150"/>
              <a:buFont typeface="Calibri"/>
              <a:buChar char="•"/>
            </a:pPr>
            <a:r>
              <a:rPr b="0" i="0" lang="en-US" sz="1150" u="none" cap="none" strike="noStrike">
                <a:solidFill>
                  <a:srgbClr val="1B2333"/>
                </a:solidFill>
                <a:latin typeface="Calibri"/>
                <a:ea typeface="Calibri"/>
                <a:cs typeface="Calibri"/>
                <a:sym typeface="Calibri"/>
              </a:rPr>
              <a:t>Every correlation sits below 0.3 in absolute value.</a:t>
            </a:r>
            <a:endParaRPr b="0" i="0" sz="11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B2333"/>
              </a:buClr>
              <a:buSzPts val="1150"/>
              <a:buFont typeface="Calibri"/>
              <a:buChar char="•"/>
            </a:pPr>
            <a:r>
              <a:rPr b="0" i="0" lang="en-US" sz="1150" u="none" cap="none" strike="noStrike">
                <a:solidFill>
                  <a:srgbClr val="1B2333"/>
                </a:solidFill>
                <a:latin typeface="Calibri"/>
                <a:ea typeface="Calibri"/>
                <a:cs typeface="Calibri"/>
                <a:sym typeface="Calibri"/>
              </a:rPr>
              <a:t>OverTime is the strongest single signal at +0.246.</a:t>
            </a:r>
            <a:endParaRPr b="0" i="0" sz="11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B2333"/>
              </a:buClr>
              <a:buSzPts val="1150"/>
              <a:buFont typeface="Calibri"/>
              <a:buChar char="•"/>
            </a:pPr>
            <a:r>
              <a:rPr b="0" i="0" lang="en-US" sz="1150" u="none" cap="none" strike="noStrike">
                <a:solidFill>
                  <a:srgbClr val="1B2333"/>
                </a:solidFill>
                <a:latin typeface="Calibri"/>
                <a:ea typeface="Calibri"/>
                <a:cs typeface="Calibri"/>
                <a:sym typeface="Calibri"/>
              </a:rPr>
              <a:t>Being single, junior, newer and lower-paid also lean toward leaving.</a:t>
            </a:r>
            <a:endParaRPr b="0" i="0" sz="11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B2333"/>
              </a:buClr>
              <a:buSzPts val="1150"/>
              <a:buFont typeface="Calibri"/>
              <a:buChar char="•"/>
            </a:pPr>
            <a:r>
              <a:rPr b="0" i="0" lang="en-US" sz="1150" u="none" cap="none" strike="noStrike">
                <a:solidFill>
                  <a:srgbClr val="1B2333"/>
                </a:solidFill>
                <a:latin typeface="Calibri"/>
                <a:ea typeface="Calibri"/>
                <a:cs typeface="Calibri"/>
                <a:sym typeface="Calibri"/>
              </a:rPr>
              <a:t>Attrition is a combination of pressures, not one cause.</a:t>
            </a:r>
            <a:endParaRPr b="0" i="0" sz="1150" u="none" cap="none" strike="noStrike">
              <a:solidFill>
                <a:schemeClr val="dk1"/>
              </a:solidFill>
              <a:latin typeface="Calibri"/>
              <a:ea typeface="Calibri"/>
              <a:cs typeface="Calibri"/>
              <a:sym typeface="Calibri"/>
            </a:endParaRPr>
          </a:p>
        </p:txBody>
      </p:sp>
      <p:sp>
        <p:nvSpPr>
          <p:cNvPr id="104" name="Google Shape;104;p7"/>
          <p:cNvSpPr txBox="1"/>
          <p:nvPr/>
        </p:nvSpPr>
        <p:spPr>
          <a:xfrm>
            <a:off x="502920" y="4737506"/>
            <a:ext cx="81381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50"/>
              <a:buFont typeface="Calibri"/>
              <a:buNone/>
            </a:pPr>
            <a:r>
              <a:rPr b="0" i="1" lang="en-US" sz="1150" u="none" cap="none" strike="noStrike">
                <a:solidFill>
                  <a:srgbClr val="E4572E"/>
                </a:solidFill>
                <a:latin typeface="Calibri"/>
                <a:ea typeface="Calibri"/>
                <a:cs typeface="Calibri"/>
                <a:sym typeface="Calibri"/>
              </a:rPr>
              <a:t>Correlation is association, not causation.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UNSUPERVISED LEARNING</a:t>
            </a:r>
            <a:endParaRPr b="0" i="0" sz="1100" u="none" cap="none" strike="noStrike">
              <a:solidFill>
                <a:schemeClr val="dk1"/>
              </a:solidFill>
              <a:latin typeface="Calibri"/>
              <a:ea typeface="Calibri"/>
              <a:cs typeface="Calibri"/>
              <a:sym typeface="Calibri"/>
            </a:endParaRPr>
          </a:p>
        </p:txBody>
      </p:sp>
      <p:sp>
        <p:nvSpPr>
          <p:cNvPr id="111" name="Google Shape;111;p8"/>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Building employee personas</a:t>
            </a:r>
            <a:endParaRPr b="0" i="0" sz="3000" u="none" cap="none" strike="noStrike">
              <a:solidFill>
                <a:schemeClr val="dk1"/>
              </a:solidFill>
              <a:latin typeface="Calibri"/>
              <a:ea typeface="Calibri"/>
              <a:cs typeface="Calibri"/>
              <a:sym typeface="Calibri"/>
            </a:endParaRPr>
          </a:p>
        </p:txBody>
      </p:sp>
      <p:sp>
        <p:nvSpPr>
          <p:cNvPr id="112" name="Google Shape;112;p8"/>
          <p:cNvSpPr/>
          <p:nvPr/>
        </p:nvSpPr>
        <p:spPr>
          <a:xfrm>
            <a:off x="502920" y="1260500"/>
            <a:ext cx="3977640" cy="1283818"/>
          </a:xfrm>
          <a:prstGeom prst="roundRect">
            <a:avLst>
              <a:gd fmla="val 569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txBox="1"/>
          <p:nvPr/>
        </p:nvSpPr>
        <p:spPr>
          <a:xfrm>
            <a:off x="685800" y="1410279"/>
            <a:ext cx="365760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Engagement</a:t>
            </a:r>
            <a:endParaRPr b="0" i="0" sz="1500" u="none" cap="none" strike="noStrike">
              <a:solidFill>
                <a:schemeClr val="dk1"/>
              </a:solidFill>
              <a:latin typeface="Calibri"/>
              <a:ea typeface="Calibri"/>
              <a:cs typeface="Calibri"/>
              <a:sym typeface="Calibri"/>
            </a:endParaRPr>
          </a:p>
        </p:txBody>
      </p:sp>
      <p:sp>
        <p:nvSpPr>
          <p:cNvPr id="114" name="Google Shape;114;p8"/>
          <p:cNvSpPr txBox="1"/>
          <p:nvPr/>
        </p:nvSpPr>
        <p:spPr>
          <a:xfrm>
            <a:off x="685800" y="1774027"/>
            <a:ext cx="3657600" cy="663306"/>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JobInvolvement</a:t>
            </a:r>
            <a:endParaRPr b="0" i="0" sz="1100" u="none" cap="none" strike="noStrike">
              <a:solidFill>
                <a:schemeClr val="dk1"/>
              </a:solidFill>
              <a:latin typeface="Calibri"/>
              <a:ea typeface="Calibri"/>
              <a:cs typeface="Calibri"/>
              <a:sym typeface="Calibri"/>
            </a:endParaRPr>
          </a:p>
        </p:txBody>
      </p:sp>
      <p:sp>
        <p:nvSpPr>
          <p:cNvPr id="115" name="Google Shape;115;p8"/>
          <p:cNvSpPr/>
          <p:nvPr/>
        </p:nvSpPr>
        <p:spPr>
          <a:xfrm>
            <a:off x="4663440" y="1260500"/>
            <a:ext cx="3977640" cy="1283818"/>
          </a:xfrm>
          <a:prstGeom prst="roundRect">
            <a:avLst>
              <a:gd fmla="val 569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txBox="1"/>
          <p:nvPr/>
        </p:nvSpPr>
        <p:spPr>
          <a:xfrm>
            <a:off x="4846320" y="1410279"/>
            <a:ext cx="365760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Satisfaction</a:t>
            </a:r>
            <a:endParaRPr b="0" i="0" sz="1500" u="none" cap="none" strike="noStrike">
              <a:solidFill>
                <a:schemeClr val="dk1"/>
              </a:solidFill>
              <a:latin typeface="Calibri"/>
              <a:ea typeface="Calibri"/>
              <a:cs typeface="Calibri"/>
              <a:sym typeface="Calibri"/>
            </a:endParaRPr>
          </a:p>
        </p:txBody>
      </p:sp>
      <p:sp>
        <p:nvSpPr>
          <p:cNvPr id="117" name="Google Shape;117;p8"/>
          <p:cNvSpPr txBox="1"/>
          <p:nvPr/>
        </p:nvSpPr>
        <p:spPr>
          <a:xfrm>
            <a:off x="4846320" y="1774027"/>
            <a:ext cx="3657600" cy="663306"/>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JobSatisfaction · EnvironmentSatisfaction · RelationshipSatisfaction · WorkLifeBalance</a:t>
            </a:r>
            <a:endParaRPr b="0" i="0" sz="1100" u="none" cap="none" strike="noStrike">
              <a:solidFill>
                <a:schemeClr val="dk1"/>
              </a:solidFill>
              <a:latin typeface="Calibri"/>
              <a:ea typeface="Calibri"/>
              <a:cs typeface="Calibri"/>
              <a:sym typeface="Calibri"/>
            </a:endParaRPr>
          </a:p>
        </p:txBody>
      </p:sp>
      <p:sp>
        <p:nvSpPr>
          <p:cNvPr id="118" name="Google Shape;118;p8"/>
          <p:cNvSpPr/>
          <p:nvPr/>
        </p:nvSpPr>
        <p:spPr>
          <a:xfrm>
            <a:off x="502920" y="2704795"/>
            <a:ext cx="3977640" cy="1283818"/>
          </a:xfrm>
          <a:prstGeom prst="roundRect">
            <a:avLst>
              <a:gd fmla="val 569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txBox="1"/>
          <p:nvPr/>
        </p:nvSpPr>
        <p:spPr>
          <a:xfrm>
            <a:off x="685800" y="2854574"/>
            <a:ext cx="365760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Workload</a:t>
            </a:r>
            <a:endParaRPr b="0" i="0" sz="1500" u="none" cap="none" strike="noStrike">
              <a:solidFill>
                <a:schemeClr val="dk1"/>
              </a:solidFill>
              <a:latin typeface="Calibri"/>
              <a:ea typeface="Calibri"/>
              <a:cs typeface="Calibri"/>
              <a:sym typeface="Calibri"/>
            </a:endParaRPr>
          </a:p>
        </p:txBody>
      </p:sp>
      <p:sp>
        <p:nvSpPr>
          <p:cNvPr id="120" name="Google Shape;120;p8"/>
          <p:cNvSpPr txBox="1"/>
          <p:nvPr/>
        </p:nvSpPr>
        <p:spPr>
          <a:xfrm>
            <a:off x="685800" y="3218322"/>
            <a:ext cx="3657600" cy="663306"/>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OverTime</a:t>
            </a:r>
            <a:endParaRPr b="0" i="0" sz="1100" u="none" cap="none" strike="noStrike">
              <a:solidFill>
                <a:schemeClr val="dk1"/>
              </a:solidFill>
              <a:latin typeface="Calibri"/>
              <a:ea typeface="Calibri"/>
              <a:cs typeface="Calibri"/>
              <a:sym typeface="Calibri"/>
            </a:endParaRPr>
          </a:p>
        </p:txBody>
      </p:sp>
      <p:sp>
        <p:nvSpPr>
          <p:cNvPr id="121" name="Google Shape;121;p8"/>
          <p:cNvSpPr/>
          <p:nvPr/>
        </p:nvSpPr>
        <p:spPr>
          <a:xfrm>
            <a:off x="4663440" y="2704795"/>
            <a:ext cx="3977640" cy="1283818"/>
          </a:xfrm>
          <a:prstGeom prst="roundRect">
            <a:avLst>
              <a:gd fmla="val 569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txBox="1"/>
          <p:nvPr/>
        </p:nvSpPr>
        <p:spPr>
          <a:xfrm>
            <a:off x="4846320" y="2854574"/>
            <a:ext cx="365760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Tenure</a:t>
            </a:r>
            <a:endParaRPr b="0" i="0" sz="1500" u="none" cap="none" strike="noStrike">
              <a:solidFill>
                <a:schemeClr val="dk1"/>
              </a:solidFill>
              <a:latin typeface="Calibri"/>
              <a:ea typeface="Calibri"/>
              <a:cs typeface="Calibri"/>
              <a:sym typeface="Calibri"/>
            </a:endParaRPr>
          </a:p>
        </p:txBody>
      </p:sp>
      <p:sp>
        <p:nvSpPr>
          <p:cNvPr id="123" name="Google Shape;123;p8"/>
          <p:cNvSpPr txBox="1"/>
          <p:nvPr/>
        </p:nvSpPr>
        <p:spPr>
          <a:xfrm>
            <a:off x="4846320" y="3218322"/>
            <a:ext cx="3657600" cy="663306"/>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TotalWorkingYears · YearsAtCompany · YearsInCurrentRole · YearsSinceLastPromotion · YearsWithCurrManager</a:t>
            </a:r>
            <a:endParaRPr b="0" i="0" sz="1100" u="none" cap="none" strike="noStrike">
              <a:solidFill>
                <a:schemeClr val="dk1"/>
              </a:solidFill>
              <a:latin typeface="Calibri"/>
              <a:ea typeface="Calibri"/>
              <a:cs typeface="Calibri"/>
              <a:sym typeface="Calibri"/>
            </a:endParaRPr>
          </a:p>
        </p:txBody>
      </p:sp>
      <p:sp>
        <p:nvSpPr>
          <p:cNvPr id="124" name="Google Shape;124;p8"/>
          <p:cNvSpPr txBox="1"/>
          <p:nvPr/>
        </p:nvSpPr>
        <p:spPr>
          <a:xfrm>
            <a:off x="502920" y="4309567"/>
            <a:ext cx="8138160" cy="748894"/>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E4572E"/>
              </a:buClr>
              <a:buSzPts val="1200"/>
              <a:buFont typeface="Calibri"/>
              <a:buNone/>
            </a:pPr>
            <a:r>
              <a:rPr b="1" i="0" lang="en-US" sz="1200" u="none" cap="none" strike="noStrike">
                <a:solidFill>
                  <a:srgbClr val="E4572E"/>
                </a:solidFill>
                <a:latin typeface="Calibri"/>
                <a:ea typeface="Calibri"/>
                <a:cs typeface="Calibri"/>
                <a:sym typeface="Calibri"/>
              </a:rPr>
              <a:t>11 features · Attrition deliberately excluded.</a:t>
            </a:r>
            <a:r>
              <a:rPr b="0" i="0" lang="en-US" sz="1200" u="none" cap="none" strike="noStrike">
                <a:solidFill>
                  <a:srgbClr val="1B2333"/>
                </a:solidFill>
                <a:latin typeface="Calibri"/>
                <a:ea typeface="Calibri"/>
                <a:cs typeface="Calibri"/>
                <a:sym typeface="Calibri"/>
              </a:rPr>
              <a:t>  The algorithm never saw who left, so the personas are built independently of the outcome. All features standardised before PCA and K-Means.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9"/>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UNSUPERVISED LEARNING</a:t>
            </a:r>
            <a:endParaRPr b="0" i="0" sz="1100" u="none" cap="none" strike="noStrike">
              <a:solidFill>
                <a:schemeClr val="dk1"/>
              </a:solidFill>
              <a:latin typeface="Calibri"/>
              <a:ea typeface="Calibri"/>
              <a:cs typeface="Calibri"/>
              <a:sym typeface="Calibri"/>
            </a:endParaRPr>
          </a:p>
        </p:txBody>
      </p:sp>
      <p:sp>
        <p:nvSpPr>
          <p:cNvPr id="131" name="Google Shape;131;p9"/>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PCA and choosing the number of clusters</a:t>
            </a:r>
            <a:endParaRPr b="0" i="0" sz="3000" u="none" cap="none" strike="noStrike">
              <a:solidFill>
                <a:schemeClr val="dk1"/>
              </a:solidFill>
              <a:latin typeface="Calibri"/>
              <a:ea typeface="Calibri"/>
              <a:cs typeface="Calibri"/>
              <a:sym typeface="Calibri"/>
            </a:endParaRPr>
          </a:p>
        </p:txBody>
      </p:sp>
      <p:sp>
        <p:nvSpPr>
          <p:cNvPr id="132" name="Google Shape;132;p9"/>
          <p:cNvSpPr/>
          <p:nvPr/>
        </p:nvSpPr>
        <p:spPr>
          <a:xfrm>
            <a:off x="502920" y="1260500"/>
            <a:ext cx="3977640" cy="3156052"/>
          </a:xfrm>
          <a:prstGeom prst="roundRect">
            <a:avLst>
              <a:gd fmla="val 2318"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txBox="1"/>
          <p:nvPr/>
        </p:nvSpPr>
        <p:spPr>
          <a:xfrm>
            <a:off x="731520" y="1474470"/>
            <a:ext cx="35661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PCA — what varies between employees</a:t>
            </a:r>
            <a:endParaRPr b="0" i="0" sz="1300" u="none" cap="none" strike="noStrike">
              <a:solidFill>
                <a:schemeClr val="dk1"/>
              </a:solidFill>
              <a:latin typeface="Calibri"/>
              <a:ea typeface="Calibri"/>
              <a:cs typeface="Calibri"/>
              <a:sym typeface="Calibri"/>
            </a:endParaRPr>
          </a:p>
        </p:txBody>
      </p:sp>
      <p:sp>
        <p:nvSpPr>
          <p:cNvPr id="134" name="Google Shape;134;p9"/>
          <p:cNvSpPr txBox="1"/>
          <p:nvPr/>
        </p:nvSpPr>
        <p:spPr>
          <a:xfrm>
            <a:off x="731520" y="1848917"/>
            <a:ext cx="3566160" cy="9628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85.39%</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of total variance captured by the first 7 components (first two: 40.67%).</a:t>
            </a:r>
            <a:endParaRPr b="0" i="0" sz="2200" u="none" cap="none" strike="noStrike">
              <a:solidFill>
                <a:schemeClr val="dk1"/>
              </a:solidFill>
              <a:latin typeface="Calibri"/>
              <a:ea typeface="Calibri"/>
              <a:cs typeface="Calibri"/>
              <a:sym typeface="Calibri"/>
            </a:endParaRPr>
          </a:p>
        </p:txBody>
      </p:sp>
      <p:sp>
        <p:nvSpPr>
          <p:cNvPr id="135" name="Google Shape;135;p9"/>
          <p:cNvSpPr txBox="1"/>
          <p:nvPr/>
        </p:nvSpPr>
        <p:spPr>
          <a:xfrm>
            <a:off x="731520" y="2918765"/>
            <a:ext cx="3566160" cy="139080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1B2333"/>
              </a:buClr>
              <a:buSzPts val="1100"/>
              <a:buFont typeface="Calibri"/>
              <a:buNone/>
            </a:pPr>
            <a:r>
              <a:rPr b="1" i="0" lang="en-US" sz="1100" u="none" cap="none" strike="noStrike">
                <a:solidFill>
                  <a:srgbClr val="1B2333"/>
                </a:solidFill>
                <a:latin typeface="Calibri"/>
                <a:ea typeface="Calibri"/>
                <a:cs typeface="Calibri"/>
                <a:sym typeface="Calibri"/>
              </a:rPr>
              <a:t>PC1 — tenure and experience</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YearsAtCompany 0.505 · YearsInCurrentRole 0.468 · YearsWithCurrManager 0.464</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800"/>
              </a:spcBef>
              <a:spcAft>
                <a:spcPts val="0"/>
              </a:spcAft>
              <a:buClr>
                <a:srgbClr val="1B2333"/>
              </a:buClr>
              <a:buSzPts val="1100"/>
              <a:buFont typeface="Calibri"/>
              <a:buNone/>
            </a:pPr>
            <a:r>
              <a:rPr b="1" i="0" lang="en-US" sz="1100" u="none" cap="none" strike="noStrike">
                <a:solidFill>
                  <a:srgbClr val="1B2333"/>
                </a:solidFill>
                <a:latin typeface="Calibri"/>
                <a:ea typeface="Calibri"/>
                <a:cs typeface="Calibri"/>
                <a:sym typeface="Calibri"/>
              </a:rPr>
              <a:t>PC2 — workload and satisfaction</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OverTime 0.688 · EnvironmentSatisfaction 0.560 · RelationshipSatisfaction 0.449</a:t>
            </a:r>
            <a:endParaRPr b="0" i="0" sz="1100" u="none" cap="none" strike="noStrike">
              <a:solidFill>
                <a:schemeClr val="dk1"/>
              </a:solidFill>
              <a:latin typeface="Calibri"/>
              <a:ea typeface="Calibri"/>
              <a:cs typeface="Calibri"/>
              <a:sym typeface="Calibri"/>
            </a:endParaRPr>
          </a:p>
        </p:txBody>
      </p:sp>
      <p:pic>
        <p:nvPicPr>
          <p:cNvPr id="136" name="Google Shape;136;p9"/>
          <p:cNvPicPr preferRelativeResize="0"/>
          <p:nvPr/>
        </p:nvPicPr>
        <p:blipFill rotWithShape="1">
          <a:blip r:embed="rId3">
            <a:alphaModFix/>
          </a:blip>
          <a:srcRect b="0" l="0" r="0" t="0"/>
          <a:stretch/>
        </p:blipFill>
        <p:spPr>
          <a:xfrm>
            <a:off x="4709160" y="1260500"/>
            <a:ext cx="3977640" cy="3156052"/>
          </a:xfrm>
          <a:prstGeom prst="rect">
            <a:avLst/>
          </a:prstGeom>
          <a:noFill/>
          <a:ln>
            <a:noFill/>
          </a:ln>
        </p:spPr>
      </p:pic>
      <p:sp>
        <p:nvSpPr>
          <p:cNvPr id="137" name="Google Shape;137;p9"/>
          <p:cNvSpPr txBox="1"/>
          <p:nvPr/>
        </p:nvSpPr>
        <p:spPr>
          <a:xfrm>
            <a:off x="502920" y="4630522"/>
            <a:ext cx="8138160" cy="42793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200"/>
              <a:buFont typeface="Calibri"/>
              <a:buNone/>
            </a:pPr>
            <a:r>
              <a:rPr b="0" i="1" lang="en-US" sz="1200" u="none" cap="none" strike="noStrike">
                <a:solidFill>
                  <a:srgbClr val="1B2333"/>
                </a:solidFill>
                <a:latin typeface="Calibri"/>
                <a:ea typeface="Calibri"/>
                <a:cs typeface="Calibri"/>
                <a:sym typeface="Calibri"/>
              </a:rPr>
              <a:t>K = 2 scored highest (0.2176) — but a low score means broad, overlapping segments, not sharply separate employee types.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0"/>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THE RESULT</a:t>
            </a:r>
            <a:endParaRPr b="0" i="0" sz="1100" u="none" cap="none" strike="noStrike">
              <a:solidFill>
                <a:schemeClr val="dk1"/>
              </a:solidFill>
              <a:latin typeface="Calibri"/>
              <a:ea typeface="Calibri"/>
              <a:cs typeface="Calibri"/>
              <a:sym typeface="Calibri"/>
            </a:endParaRPr>
          </a:p>
        </p:txBody>
      </p:sp>
      <p:sp>
        <p:nvSpPr>
          <p:cNvPr id="144" name="Google Shape;144;p10"/>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Two employee personas</a:t>
            </a:r>
            <a:endParaRPr b="0" i="0" sz="3000" u="none" cap="none" strike="noStrike">
              <a:solidFill>
                <a:schemeClr val="dk1"/>
              </a:solidFill>
              <a:latin typeface="Calibri"/>
              <a:ea typeface="Calibri"/>
              <a:cs typeface="Calibri"/>
              <a:sym typeface="Calibri"/>
            </a:endParaRPr>
          </a:p>
        </p:txBody>
      </p:sp>
      <p:sp>
        <p:nvSpPr>
          <p:cNvPr id="145" name="Google Shape;145;p10"/>
          <p:cNvSpPr/>
          <p:nvPr/>
        </p:nvSpPr>
        <p:spPr>
          <a:xfrm>
            <a:off x="502920" y="1260500"/>
            <a:ext cx="3977640" cy="2942082"/>
          </a:xfrm>
          <a:prstGeom prst="roundRect">
            <a:avLst>
              <a:gd fmla="val 2486"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txBox="1"/>
          <p:nvPr/>
        </p:nvSpPr>
        <p:spPr>
          <a:xfrm>
            <a:off x="731520" y="1453073"/>
            <a:ext cx="35661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Persona 1 — Early tenure</a:t>
            </a:r>
            <a:endParaRPr b="0" i="0" sz="1500" u="none" cap="none" strike="noStrike">
              <a:solidFill>
                <a:schemeClr val="dk1"/>
              </a:solidFill>
              <a:latin typeface="Calibri"/>
              <a:ea typeface="Calibri"/>
              <a:cs typeface="Calibri"/>
              <a:sym typeface="Calibri"/>
            </a:endParaRPr>
          </a:p>
        </p:txBody>
      </p:sp>
      <p:sp>
        <p:nvSpPr>
          <p:cNvPr id="147" name="Google Shape;147;p10"/>
          <p:cNvSpPr txBox="1"/>
          <p:nvPr/>
        </p:nvSpPr>
        <p:spPr>
          <a:xfrm>
            <a:off x="731520" y="1795424"/>
            <a:ext cx="356616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957 employees (65.1%)</a:t>
            </a:r>
            <a:endParaRPr b="0" i="0" sz="1150" u="none" cap="none" strike="noStrike">
              <a:solidFill>
                <a:schemeClr val="dk1"/>
              </a:solidFill>
              <a:latin typeface="Calibri"/>
              <a:ea typeface="Calibri"/>
              <a:cs typeface="Calibri"/>
              <a:sym typeface="Calibri"/>
            </a:endParaRPr>
          </a:p>
        </p:txBody>
      </p:sp>
      <p:sp>
        <p:nvSpPr>
          <p:cNvPr id="148" name="Google Shape;148;p10"/>
          <p:cNvSpPr txBox="1"/>
          <p:nvPr/>
        </p:nvSpPr>
        <p:spPr>
          <a:xfrm>
            <a:off x="731520" y="2223364"/>
            <a:ext cx="237744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Avg. total working years</a:t>
            </a:r>
            <a:endParaRPr b="0" i="0" sz="1150" u="none" cap="none" strike="noStrike">
              <a:solidFill>
                <a:schemeClr val="dk1"/>
              </a:solidFill>
              <a:latin typeface="Calibri"/>
              <a:ea typeface="Calibri"/>
              <a:cs typeface="Calibri"/>
              <a:sym typeface="Calibri"/>
            </a:endParaRPr>
          </a:p>
        </p:txBody>
      </p:sp>
      <p:sp>
        <p:nvSpPr>
          <p:cNvPr id="149" name="Google Shape;149;p10"/>
          <p:cNvSpPr txBox="1"/>
          <p:nvPr/>
        </p:nvSpPr>
        <p:spPr>
          <a:xfrm>
            <a:off x="3154680" y="2223364"/>
            <a:ext cx="1143000" cy="299557"/>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333"/>
              </a:buClr>
              <a:buSzPts val="1150"/>
              <a:buFont typeface="Calibri"/>
              <a:buNone/>
            </a:pPr>
            <a:r>
              <a:rPr b="1" i="0" lang="en-US" sz="1150" u="none" cap="none" strike="noStrike">
                <a:solidFill>
                  <a:srgbClr val="1B2333"/>
                </a:solidFill>
                <a:latin typeface="Calibri"/>
                <a:ea typeface="Calibri"/>
                <a:cs typeface="Calibri"/>
                <a:sym typeface="Calibri"/>
              </a:rPr>
              <a:t>8.56</a:t>
            </a:r>
            <a:endParaRPr b="0" i="0" sz="1150" u="none" cap="none" strike="noStrike">
              <a:solidFill>
                <a:schemeClr val="dk1"/>
              </a:solidFill>
              <a:latin typeface="Calibri"/>
              <a:ea typeface="Calibri"/>
              <a:cs typeface="Calibri"/>
              <a:sym typeface="Calibri"/>
            </a:endParaRPr>
          </a:p>
        </p:txBody>
      </p:sp>
      <p:sp>
        <p:nvSpPr>
          <p:cNvPr id="150" name="Google Shape;150;p10"/>
          <p:cNvSpPr txBox="1"/>
          <p:nvPr/>
        </p:nvSpPr>
        <p:spPr>
          <a:xfrm>
            <a:off x="731520" y="2587112"/>
            <a:ext cx="237744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Avg. years at company</a:t>
            </a:r>
            <a:endParaRPr b="0" i="0" sz="1150" u="none" cap="none" strike="noStrike">
              <a:solidFill>
                <a:schemeClr val="dk1"/>
              </a:solidFill>
              <a:latin typeface="Calibri"/>
              <a:ea typeface="Calibri"/>
              <a:cs typeface="Calibri"/>
              <a:sym typeface="Calibri"/>
            </a:endParaRPr>
          </a:p>
        </p:txBody>
      </p:sp>
      <p:sp>
        <p:nvSpPr>
          <p:cNvPr id="151" name="Google Shape;151;p10"/>
          <p:cNvSpPr txBox="1"/>
          <p:nvPr/>
        </p:nvSpPr>
        <p:spPr>
          <a:xfrm>
            <a:off x="3154680" y="2587112"/>
            <a:ext cx="1143000" cy="299557"/>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333"/>
              </a:buClr>
              <a:buSzPts val="1150"/>
              <a:buFont typeface="Calibri"/>
              <a:buNone/>
            </a:pPr>
            <a:r>
              <a:rPr b="1" i="0" lang="en-US" sz="1150" u="none" cap="none" strike="noStrike">
                <a:solidFill>
                  <a:srgbClr val="1B2333"/>
                </a:solidFill>
                <a:latin typeface="Calibri"/>
                <a:ea typeface="Calibri"/>
                <a:cs typeface="Calibri"/>
                <a:sym typeface="Calibri"/>
              </a:rPr>
              <a:t>3.73</a:t>
            </a:r>
            <a:endParaRPr b="0" i="0" sz="1150" u="none" cap="none" strike="noStrike">
              <a:solidFill>
                <a:schemeClr val="dk1"/>
              </a:solidFill>
              <a:latin typeface="Calibri"/>
              <a:ea typeface="Calibri"/>
              <a:cs typeface="Calibri"/>
              <a:sym typeface="Calibri"/>
            </a:endParaRPr>
          </a:p>
        </p:txBody>
      </p:sp>
      <p:sp>
        <p:nvSpPr>
          <p:cNvPr id="152" name="Google Shape;152;p10"/>
          <p:cNvSpPr txBox="1"/>
          <p:nvPr/>
        </p:nvSpPr>
        <p:spPr>
          <a:xfrm>
            <a:off x="731520" y="3100639"/>
            <a:ext cx="23774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Observed attrition rate</a:t>
            </a:r>
            <a:endParaRPr b="0" i="0" sz="1150" u="none" cap="none" strike="noStrike">
              <a:solidFill>
                <a:schemeClr val="dk1"/>
              </a:solidFill>
              <a:latin typeface="Calibri"/>
              <a:ea typeface="Calibri"/>
              <a:cs typeface="Calibri"/>
              <a:sym typeface="Calibri"/>
            </a:endParaRPr>
          </a:p>
        </p:txBody>
      </p:sp>
      <p:sp>
        <p:nvSpPr>
          <p:cNvPr id="153" name="Google Shape;153;p10"/>
          <p:cNvSpPr txBox="1"/>
          <p:nvPr/>
        </p:nvSpPr>
        <p:spPr>
          <a:xfrm>
            <a:off x="2880360" y="3057845"/>
            <a:ext cx="1417320" cy="64190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4572E"/>
              </a:buClr>
              <a:buSzPts val="2800"/>
              <a:buFont typeface="Cambria"/>
              <a:buNone/>
            </a:pPr>
            <a:r>
              <a:rPr b="1" i="0" lang="en-US" sz="2800" u="none" cap="none" strike="noStrike">
                <a:solidFill>
                  <a:srgbClr val="E4572E"/>
                </a:solidFill>
                <a:latin typeface="Cambria"/>
                <a:ea typeface="Cambria"/>
                <a:cs typeface="Cambria"/>
                <a:sym typeface="Cambria"/>
              </a:rPr>
              <a:t>18.81%</a:t>
            </a:r>
            <a:endParaRPr b="0" i="0" sz="2800" u="none" cap="none" strike="noStrike">
              <a:solidFill>
                <a:schemeClr val="dk1"/>
              </a:solidFill>
              <a:latin typeface="Calibri"/>
              <a:ea typeface="Calibri"/>
              <a:cs typeface="Calibri"/>
              <a:sym typeface="Calibri"/>
            </a:endParaRPr>
          </a:p>
        </p:txBody>
      </p:sp>
      <p:sp>
        <p:nvSpPr>
          <p:cNvPr id="154" name="Google Shape;154;p10"/>
          <p:cNvSpPr/>
          <p:nvPr/>
        </p:nvSpPr>
        <p:spPr>
          <a:xfrm>
            <a:off x="4663440" y="1260500"/>
            <a:ext cx="3977640" cy="2942082"/>
          </a:xfrm>
          <a:prstGeom prst="roundRect">
            <a:avLst>
              <a:gd fmla="val 2486"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
          <p:cNvSpPr txBox="1"/>
          <p:nvPr/>
        </p:nvSpPr>
        <p:spPr>
          <a:xfrm>
            <a:off x="4892040" y="1453073"/>
            <a:ext cx="35661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Persona 2 — Experienced, long tenure</a:t>
            </a:r>
            <a:endParaRPr b="0" i="0" sz="1500" u="none" cap="none" strike="noStrike">
              <a:solidFill>
                <a:schemeClr val="dk1"/>
              </a:solidFill>
              <a:latin typeface="Calibri"/>
              <a:ea typeface="Calibri"/>
              <a:cs typeface="Calibri"/>
              <a:sym typeface="Calibri"/>
            </a:endParaRPr>
          </a:p>
        </p:txBody>
      </p:sp>
      <p:sp>
        <p:nvSpPr>
          <p:cNvPr id="156" name="Google Shape;156;p10"/>
          <p:cNvSpPr txBox="1"/>
          <p:nvPr/>
        </p:nvSpPr>
        <p:spPr>
          <a:xfrm>
            <a:off x="4892040" y="1795424"/>
            <a:ext cx="356616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513 employees (34.9%)</a:t>
            </a:r>
            <a:endParaRPr b="0" i="0" sz="1150" u="none" cap="none" strike="noStrike">
              <a:solidFill>
                <a:schemeClr val="dk1"/>
              </a:solidFill>
              <a:latin typeface="Calibri"/>
              <a:ea typeface="Calibri"/>
              <a:cs typeface="Calibri"/>
              <a:sym typeface="Calibri"/>
            </a:endParaRPr>
          </a:p>
        </p:txBody>
      </p:sp>
      <p:sp>
        <p:nvSpPr>
          <p:cNvPr id="157" name="Google Shape;157;p10"/>
          <p:cNvSpPr txBox="1"/>
          <p:nvPr/>
        </p:nvSpPr>
        <p:spPr>
          <a:xfrm>
            <a:off x="4892040" y="2223364"/>
            <a:ext cx="237744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Avg. total working years</a:t>
            </a:r>
            <a:endParaRPr b="0" i="0" sz="1150" u="none" cap="none" strike="noStrike">
              <a:solidFill>
                <a:schemeClr val="dk1"/>
              </a:solidFill>
              <a:latin typeface="Calibri"/>
              <a:ea typeface="Calibri"/>
              <a:cs typeface="Calibri"/>
              <a:sym typeface="Calibri"/>
            </a:endParaRPr>
          </a:p>
        </p:txBody>
      </p:sp>
      <p:sp>
        <p:nvSpPr>
          <p:cNvPr id="158" name="Google Shape;158;p10"/>
          <p:cNvSpPr txBox="1"/>
          <p:nvPr/>
        </p:nvSpPr>
        <p:spPr>
          <a:xfrm>
            <a:off x="7315200" y="2223364"/>
            <a:ext cx="1143000" cy="299557"/>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333"/>
              </a:buClr>
              <a:buSzPts val="1150"/>
              <a:buFont typeface="Calibri"/>
              <a:buNone/>
            </a:pPr>
            <a:r>
              <a:rPr b="1" i="0" lang="en-US" sz="1150" u="none" cap="none" strike="noStrike">
                <a:solidFill>
                  <a:srgbClr val="1B2333"/>
                </a:solidFill>
                <a:latin typeface="Calibri"/>
                <a:ea typeface="Calibri"/>
                <a:cs typeface="Calibri"/>
                <a:sym typeface="Calibri"/>
              </a:rPr>
              <a:t>16.35</a:t>
            </a:r>
            <a:endParaRPr b="0" i="0" sz="1150" u="none" cap="none" strike="noStrike">
              <a:solidFill>
                <a:schemeClr val="dk1"/>
              </a:solidFill>
              <a:latin typeface="Calibri"/>
              <a:ea typeface="Calibri"/>
              <a:cs typeface="Calibri"/>
              <a:sym typeface="Calibri"/>
            </a:endParaRPr>
          </a:p>
        </p:txBody>
      </p:sp>
      <p:sp>
        <p:nvSpPr>
          <p:cNvPr id="159" name="Google Shape;159;p10"/>
          <p:cNvSpPr txBox="1"/>
          <p:nvPr/>
        </p:nvSpPr>
        <p:spPr>
          <a:xfrm>
            <a:off x="4892040" y="2587112"/>
            <a:ext cx="2377440" cy="29955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Avg. years at company</a:t>
            </a:r>
            <a:endParaRPr b="0" i="0" sz="1150" u="none" cap="none" strike="noStrike">
              <a:solidFill>
                <a:schemeClr val="dk1"/>
              </a:solidFill>
              <a:latin typeface="Calibri"/>
              <a:ea typeface="Calibri"/>
              <a:cs typeface="Calibri"/>
              <a:sym typeface="Calibri"/>
            </a:endParaRPr>
          </a:p>
        </p:txBody>
      </p:sp>
      <p:sp>
        <p:nvSpPr>
          <p:cNvPr id="160" name="Google Shape;160;p10"/>
          <p:cNvSpPr txBox="1"/>
          <p:nvPr/>
        </p:nvSpPr>
        <p:spPr>
          <a:xfrm>
            <a:off x="7315200" y="2587112"/>
            <a:ext cx="1143000" cy="299557"/>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333"/>
              </a:buClr>
              <a:buSzPts val="1150"/>
              <a:buFont typeface="Calibri"/>
              <a:buNone/>
            </a:pPr>
            <a:r>
              <a:rPr b="1" i="0" lang="en-US" sz="1150" u="none" cap="none" strike="noStrike">
                <a:solidFill>
                  <a:srgbClr val="1B2333"/>
                </a:solidFill>
                <a:latin typeface="Calibri"/>
                <a:ea typeface="Calibri"/>
                <a:cs typeface="Calibri"/>
                <a:sym typeface="Calibri"/>
              </a:rPr>
              <a:t>13.13</a:t>
            </a:r>
            <a:endParaRPr b="0" i="0" sz="1150" u="none" cap="none" strike="noStrike">
              <a:solidFill>
                <a:schemeClr val="dk1"/>
              </a:solidFill>
              <a:latin typeface="Calibri"/>
              <a:ea typeface="Calibri"/>
              <a:cs typeface="Calibri"/>
              <a:sym typeface="Calibri"/>
            </a:endParaRPr>
          </a:p>
        </p:txBody>
      </p:sp>
      <p:sp>
        <p:nvSpPr>
          <p:cNvPr id="161" name="Google Shape;161;p10"/>
          <p:cNvSpPr txBox="1"/>
          <p:nvPr/>
        </p:nvSpPr>
        <p:spPr>
          <a:xfrm>
            <a:off x="4892040" y="3100639"/>
            <a:ext cx="23774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Observed attrition rate</a:t>
            </a:r>
            <a:endParaRPr b="0" i="0" sz="1150" u="none" cap="none" strike="noStrike">
              <a:solidFill>
                <a:schemeClr val="dk1"/>
              </a:solidFill>
              <a:latin typeface="Calibri"/>
              <a:ea typeface="Calibri"/>
              <a:cs typeface="Calibri"/>
              <a:sym typeface="Calibri"/>
            </a:endParaRPr>
          </a:p>
        </p:txBody>
      </p:sp>
      <p:sp>
        <p:nvSpPr>
          <p:cNvPr id="162" name="Google Shape;162;p10"/>
          <p:cNvSpPr txBox="1"/>
          <p:nvPr/>
        </p:nvSpPr>
        <p:spPr>
          <a:xfrm>
            <a:off x="7040880" y="3057845"/>
            <a:ext cx="1417320" cy="64190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11.11%</a:t>
            </a:r>
            <a:endParaRPr b="0" i="0" sz="2800" u="none" cap="none" strike="noStrike">
              <a:solidFill>
                <a:schemeClr val="dk1"/>
              </a:solidFill>
              <a:latin typeface="Calibri"/>
              <a:ea typeface="Calibri"/>
              <a:cs typeface="Calibri"/>
              <a:sym typeface="Calibri"/>
            </a:endParaRPr>
          </a:p>
        </p:txBody>
      </p:sp>
      <p:sp>
        <p:nvSpPr>
          <p:cNvPr id="163" name="Google Shape;163;p10"/>
          <p:cNvSpPr txBox="1"/>
          <p:nvPr/>
        </p:nvSpPr>
        <p:spPr>
          <a:xfrm>
            <a:off x="502920" y="4416552"/>
            <a:ext cx="8138160" cy="641909"/>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E4572E"/>
              </a:buClr>
              <a:buSzPts val="1250"/>
              <a:buFont typeface="Calibri"/>
              <a:buNone/>
            </a:pPr>
            <a:r>
              <a:rPr b="1" i="0" lang="en-US" sz="1250" u="none" cap="none" strike="noStrike">
                <a:solidFill>
                  <a:srgbClr val="E4572E"/>
                </a:solidFill>
                <a:latin typeface="Calibri"/>
                <a:ea typeface="Calibri"/>
                <a:cs typeface="Calibri"/>
                <a:sym typeface="Calibri"/>
              </a:rPr>
              <a:t>A 7.70 percentage-point gap</a:t>
            </a:r>
            <a:r>
              <a:rPr b="0" i="0" lang="en-US" sz="1250" u="none" cap="none" strike="noStrike">
                <a:solidFill>
                  <a:srgbClr val="1B2333"/>
                </a:solidFill>
                <a:latin typeface="Calibri"/>
                <a:ea typeface="Calibri"/>
                <a:cs typeface="Calibri"/>
                <a:sym typeface="Calibri"/>
              </a:rPr>
              <a:t> — found without ever showing the algorithm who left. Descriptive, though: short tenure is not proven to cause leaving.</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11"/>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SUPERVISED LEARNING</a:t>
            </a:r>
            <a:endParaRPr b="0" i="0" sz="1100" u="none" cap="none" strike="noStrike">
              <a:solidFill>
                <a:schemeClr val="dk1"/>
              </a:solidFill>
              <a:latin typeface="Calibri"/>
              <a:ea typeface="Calibri"/>
              <a:cs typeface="Calibri"/>
              <a:sym typeface="Calibri"/>
            </a:endParaRPr>
          </a:p>
        </p:txBody>
      </p:sp>
      <p:sp>
        <p:nvSpPr>
          <p:cNvPr id="170" name="Google Shape;170;p11"/>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How we set up the prediction task</a:t>
            </a:r>
            <a:endParaRPr b="0" i="0" sz="3000" u="none" cap="none" strike="noStrike">
              <a:solidFill>
                <a:schemeClr val="dk1"/>
              </a:solidFill>
              <a:latin typeface="Calibri"/>
              <a:ea typeface="Calibri"/>
              <a:cs typeface="Calibri"/>
              <a:sym typeface="Calibri"/>
            </a:endParaRPr>
          </a:p>
        </p:txBody>
      </p:sp>
      <p:sp>
        <p:nvSpPr>
          <p:cNvPr id="171" name="Google Shape;171;p11"/>
          <p:cNvSpPr/>
          <p:nvPr/>
        </p:nvSpPr>
        <p:spPr>
          <a:xfrm>
            <a:off x="502920" y="1260500"/>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txBox="1"/>
          <p:nvPr/>
        </p:nvSpPr>
        <p:spPr>
          <a:xfrm>
            <a:off x="502920" y="12605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173" name="Google Shape;173;p11"/>
          <p:cNvSpPr txBox="1"/>
          <p:nvPr/>
        </p:nvSpPr>
        <p:spPr>
          <a:xfrm>
            <a:off x="1024128" y="1239103"/>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Binary target</a:t>
            </a:r>
            <a:endParaRPr b="0" i="0" sz="1350" u="none" cap="none" strike="noStrike">
              <a:solidFill>
                <a:schemeClr val="dk1"/>
              </a:solidFill>
              <a:latin typeface="Calibri"/>
              <a:ea typeface="Calibri"/>
              <a:cs typeface="Calibri"/>
              <a:sym typeface="Calibri"/>
            </a:endParaRPr>
          </a:p>
        </p:txBody>
      </p:sp>
      <p:sp>
        <p:nvSpPr>
          <p:cNvPr id="174" name="Google Shape;174;p11"/>
          <p:cNvSpPr txBox="1"/>
          <p:nvPr/>
        </p:nvSpPr>
        <p:spPr>
          <a:xfrm>
            <a:off x="1024128" y="1517264"/>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0 = Stayed, 1 = Left</a:t>
            </a:r>
            <a:endParaRPr b="0" i="0" sz="1150" u="none" cap="none" strike="noStrike">
              <a:solidFill>
                <a:schemeClr val="dk1"/>
              </a:solidFill>
              <a:latin typeface="Calibri"/>
              <a:ea typeface="Calibri"/>
              <a:cs typeface="Calibri"/>
              <a:sym typeface="Calibri"/>
            </a:endParaRPr>
          </a:p>
        </p:txBody>
      </p:sp>
      <p:sp>
        <p:nvSpPr>
          <p:cNvPr id="175" name="Google Shape;175;p11"/>
          <p:cNvSpPr/>
          <p:nvPr/>
        </p:nvSpPr>
        <p:spPr>
          <a:xfrm>
            <a:off x="502920" y="1923806"/>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txBox="1"/>
          <p:nvPr/>
        </p:nvSpPr>
        <p:spPr>
          <a:xfrm>
            <a:off x="502920" y="192380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177" name="Google Shape;177;p11"/>
          <p:cNvSpPr txBox="1"/>
          <p:nvPr/>
        </p:nvSpPr>
        <p:spPr>
          <a:xfrm>
            <a:off x="1024128" y="1902409"/>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Stratified split</a:t>
            </a:r>
            <a:endParaRPr b="0" i="0" sz="1350" u="none" cap="none" strike="noStrike">
              <a:solidFill>
                <a:schemeClr val="dk1"/>
              </a:solidFill>
              <a:latin typeface="Calibri"/>
              <a:ea typeface="Calibri"/>
              <a:cs typeface="Calibri"/>
              <a:sym typeface="Calibri"/>
            </a:endParaRPr>
          </a:p>
        </p:txBody>
      </p:sp>
      <p:sp>
        <p:nvSpPr>
          <p:cNvPr id="178" name="Google Shape;178;p11"/>
          <p:cNvSpPr txBox="1"/>
          <p:nvPr/>
        </p:nvSpPr>
        <p:spPr>
          <a:xfrm>
            <a:off x="1024128" y="2180570"/>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80% train / 20% test, class proportions preserved</a:t>
            </a:r>
            <a:endParaRPr b="0" i="0" sz="1150" u="none" cap="none" strike="noStrike">
              <a:solidFill>
                <a:schemeClr val="dk1"/>
              </a:solidFill>
              <a:latin typeface="Calibri"/>
              <a:ea typeface="Calibri"/>
              <a:cs typeface="Calibri"/>
              <a:sym typeface="Calibri"/>
            </a:endParaRPr>
          </a:p>
        </p:txBody>
      </p:sp>
      <p:sp>
        <p:nvSpPr>
          <p:cNvPr id="179" name="Google Shape;179;p11"/>
          <p:cNvSpPr/>
          <p:nvPr/>
        </p:nvSpPr>
        <p:spPr>
          <a:xfrm>
            <a:off x="502920" y="2587112"/>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txBox="1"/>
          <p:nvPr/>
        </p:nvSpPr>
        <p:spPr>
          <a:xfrm>
            <a:off x="502920" y="258711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181" name="Google Shape;181;p11"/>
          <p:cNvSpPr txBox="1"/>
          <p:nvPr/>
        </p:nvSpPr>
        <p:spPr>
          <a:xfrm>
            <a:off x="1024128" y="2565715"/>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Class weighting</a:t>
            </a:r>
            <a:endParaRPr b="0" i="0" sz="1350" u="none" cap="none" strike="noStrike">
              <a:solidFill>
                <a:schemeClr val="dk1"/>
              </a:solidFill>
              <a:latin typeface="Calibri"/>
              <a:ea typeface="Calibri"/>
              <a:cs typeface="Calibri"/>
              <a:sym typeface="Calibri"/>
            </a:endParaRPr>
          </a:p>
        </p:txBody>
      </p:sp>
      <p:sp>
        <p:nvSpPr>
          <p:cNvPr id="182" name="Google Shape;182;p11"/>
          <p:cNvSpPr txBox="1"/>
          <p:nvPr/>
        </p:nvSpPr>
        <p:spPr>
          <a:xfrm>
            <a:off x="1024128" y="2843875"/>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class_weight = 'balanced' so leavers are not ignored</a:t>
            </a:r>
            <a:endParaRPr b="0" i="0" sz="1150" u="none" cap="none" strike="noStrike">
              <a:solidFill>
                <a:schemeClr val="dk1"/>
              </a:solidFill>
              <a:latin typeface="Calibri"/>
              <a:ea typeface="Calibri"/>
              <a:cs typeface="Calibri"/>
              <a:sym typeface="Calibri"/>
            </a:endParaRPr>
          </a:p>
        </p:txBody>
      </p:sp>
      <p:sp>
        <p:nvSpPr>
          <p:cNvPr id="183" name="Google Shape;183;p11"/>
          <p:cNvSpPr/>
          <p:nvPr/>
        </p:nvSpPr>
        <p:spPr>
          <a:xfrm>
            <a:off x="502920" y="3250418"/>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txBox="1"/>
          <p:nvPr/>
        </p:nvSpPr>
        <p:spPr>
          <a:xfrm>
            <a:off x="502920" y="325041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185" name="Google Shape;185;p11"/>
          <p:cNvSpPr txBox="1"/>
          <p:nvPr/>
        </p:nvSpPr>
        <p:spPr>
          <a:xfrm>
            <a:off x="1024128" y="3229021"/>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5-fold CV + grid search</a:t>
            </a:r>
            <a:endParaRPr b="0" i="0" sz="1350" u="none" cap="none" strike="noStrike">
              <a:solidFill>
                <a:schemeClr val="dk1"/>
              </a:solidFill>
              <a:latin typeface="Calibri"/>
              <a:ea typeface="Calibri"/>
              <a:cs typeface="Calibri"/>
              <a:sym typeface="Calibri"/>
            </a:endParaRPr>
          </a:p>
        </p:txBody>
      </p:sp>
      <p:sp>
        <p:nvSpPr>
          <p:cNvPr id="186" name="Google Shape;186;p11"/>
          <p:cNvSpPr txBox="1"/>
          <p:nvPr/>
        </p:nvSpPr>
        <p:spPr>
          <a:xfrm>
            <a:off x="1024128" y="3507181"/>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Tuned on the training set only, optimising F1</a:t>
            </a:r>
            <a:endParaRPr b="0" i="0" sz="1150" u="none" cap="none" strike="noStrike">
              <a:solidFill>
                <a:schemeClr val="dk1"/>
              </a:solidFill>
              <a:latin typeface="Calibri"/>
              <a:ea typeface="Calibri"/>
              <a:cs typeface="Calibri"/>
              <a:sym typeface="Calibri"/>
            </a:endParaRPr>
          </a:p>
        </p:txBody>
      </p:sp>
      <p:sp>
        <p:nvSpPr>
          <p:cNvPr id="187" name="Google Shape;187;p11"/>
          <p:cNvSpPr/>
          <p:nvPr/>
        </p:nvSpPr>
        <p:spPr>
          <a:xfrm>
            <a:off x="502920" y="3913723"/>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txBox="1"/>
          <p:nvPr/>
        </p:nvSpPr>
        <p:spPr>
          <a:xfrm>
            <a:off x="502920" y="3913723"/>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189" name="Google Shape;189;p11"/>
          <p:cNvSpPr txBox="1"/>
          <p:nvPr/>
        </p:nvSpPr>
        <p:spPr>
          <a:xfrm>
            <a:off x="1024128" y="3892326"/>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Test set locked away</a:t>
            </a:r>
            <a:endParaRPr b="0" i="0" sz="1350" u="none" cap="none" strike="noStrike">
              <a:solidFill>
                <a:schemeClr val="dk1"/>
              </a:solidFill>
              <a:latin typeface="Calibri"/>
              <a:ea typeface="Calibri"/>
              <a:cs typeface="Calibri"/>
              <a:sym typeface="Calibri"/>
            </a:endParaRPr>
          </a:p>
        </p:txBody>
      </p:sp>
      <p:sp>
        <p:nvSpPr>
          <p:cNvPr id="190" name="Google Shape;190;p11"/>
          <p:cNvSpPr txBox="1"/>
          <p:nvPr/>
        </p:nvSpPr>
        <p:spPr>
          <a:xfrm>
            <a:off x="1024128" y="4170487"/>
            <a:ext cx="411480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Never touched during preprocessing, CV or tuning</a:t>
            </a:r>
            <a:endParaRPr b="0" i="0" sz="1150" u="none" cap="none" strike="noStrike">
              <a:solidFill>
                <a:schemeClr val="dk1"/>
              </a:solidFill>
              <a:latin typeface="Calibri"/>
              <a:ea typeface="Calibri"/>
              <a:cs typeface="Calibri"/>
              <a:sym typeface="Calibri"/>
            </a:endParaRPr>
          </a:p>
        </p:txBody>
      </p:sp>
      <p:sp>
        <p:nvSpPr>
          <p:cNvPr id="191" name="Google Shape;191;p11"/>
          <p:cNvSpPr/>
          <p:nvPr/>
        </p:nvSpPr>
        <p:spPr>
          <a:xfrm>
            <a:off x="5577840" y="1260500"/>
            <a:ext cx="3108960" cy="3316529"/>
          </a:xfrm>
          <a:prstGeom prst="roundRect">
            <a:avLst>
              <a:gd fmla="val 2353"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txBox="1"/>
          <p:nvPr/>
        </p:nvSpPr>
        <p:spPr>
          <a:xfrm>
            <a:off x="5852160" y="1527962"/>
            <a:ext cx="256032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050"/>
              <a:buFont typeface="Calibri"/>
              <a:buNone/>
            </a:pPr>
            <a:r>
              <a:rPr b="1" i="0" lang="en-US" sz="1050" u="none" cap="none" strike="noStrike">
                <a:solidFill>
                  <a:srgbClr val="E4572E"/>
                </a:solidFill>
                <a:latin typeface="Calibri"/>
                <a:ea typeface="Calibri"/>
                <a:cs typeface="Calibri"/>
                <a:sym typeface="Calibri"/>
              </a:rPr>
              <a:t>WHY NOT ACCURACY?</a:t>
            </a:r>
            <a:endParaRPr b="0" i="0" sz="1050" u="none" cap="none" strike="noStrike">
              <a:solidFill>
                <a:schemeClr val="dk1"/>
              </a:solidFill>
              <a:latin typeface="Calibri"/>
              <a:ea typeface="Calibri"/>
              <a:cs typeface="Calibri"/>
              <a:sym typeface="Calibri"/>
            </a:endParaRPr>
          </a:p>
        </p:txBody>
      </p:sp>
      <p:sp>
        <p:nvSpPr>
          <p:cNvPr id="193" name="Google Shape;193;p11"/>
          <p:cNvSpPr txBox="1"/>
          <p:nvPr/>
        </p:nvSpPr>
        <p:spPr>
          <a:xfrm>
            <a:off x="5852160" y="1955902"/>
            <a:ext cx="2560320" cy="1069848"/>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 model that predicts "nobody ever leaves" is already 83.9% accurate — and completely useless.</a:t>
            </a:r>
            <a:endParaRPr b="0" i="0" sz="1300" u="none" cap="none" strike="noStrike">
              <a:solidFill>
                <a:schemeClr val="dk1"/>
              </a:solidFill>
              <a:latin typeface="Calibri"/>
              <a:ea typeface="Calibri"/>
              <a:cs typeface="Calibri"/>
              <a:sym typeface="Calibri"/>
            </a:endParaRPr>
          </a:p>
        </p:txBody>
      </p:sp>
      <p:sp>
        <p:nvSpPr>
          <p:cNvPr id="194" name="Google Shape;194;p11"/>
          <p:cNvSpPr txBox="1"/>
          <p:nvPr/>
        </p:nvSpPr>
        <p:spPr>
          <a:xfrm>
            <a:off x="5852160" y="3186227"/>
            <a:ext cx="2560320" cy="1069848"/>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We judge models on precision, recall, F1 and PR-AUC, with F1 as the decision criterion.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2"/>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RESULTS</a:t>
            </a:r>
            <a:endParaRPr b="0" i="0" sz="1100" u="none" cap="none" strike="noStrike">
              <a:solidFill>
                <a:schemeClr val="dk1"/>
              </a:solidFill>
              <a:latin typeface="Calibri"/>
              <a:ea typeface="Calibri"/>
              <a:cs typeface="Calibri"/>
              <a:sym typeface="Calibri"/>
            </a:endParaRPr>
          </a:p>
        </p:txBody>
      </p:sp>
      <p:sp>
        <p:nvSpPr>
          <p:cNvPr id="201" name="Google Shape;201;p12"/>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Three models compared on the held-out test set</a:t>
            </a:r>
            <a:endParaRPr b="0" i="0" sz="3000" u="none" cap="none" strike="noStrike">
              <a:solidFill>
                <a:schemeClr val="dk1"/>
              </a:solidFill>
              <a:latin typeface="Calibri"/>
              <a:ea typeface="Calibri"/>
              <a:cs typeface="Calibri"/>
              <a:sym typeface="Calibri"/>
            </a:endParaRPr>
          </a:p>
        </p:txBody>
      </p:sp>
      <p:pic>
        <p:nvPicPr>
          <p:cNvPr id="202" name="Google Shape;202;p12"/>
          <p:cNvPicPr preferRelativeResize="0"/>
          <p:nvPr/>
        </p:nvPicPr>
        <p:blipFill rotWithShape="1">
          <a:blip r:embed="rId3">
            <a:alphaModFix/>
          </a:blip>
          <a:srcRect b="0" l="0" r="0" t="0"/>
          <a:stretch/>
        </p:blipFill>
        <p:spPr>
          <a:xfrm>
            <a:off x="457200" y="1207008"/>
            <a:ext cx="5394960" cy="3423514"/>
          </a:xfrm>
          <a:prstGeom prst="rect">
            <a:avLst/>
          </a:prstGeom>
          <a:noFill/>
          <a:ln>
            <a:noFill/>
          </a:ln>
        </p:spPr>
      </p:pic>
      <p:sp>
        <p:nvSpPr>
          <p:cNvPr id="203" name="Google Shape;203;p12"/>
          <p:cNvSpPr/>
          <p:nvPr/>
        </p:nvSpPr>
        <p:spPr>
          <a:xfrm>
            <a:off x="6035040" y="1207008"/>
            <a:ext cx="2651760" cy="3423514"/>
          </a:xfrm>
          <a:prstGeom prst="roundRect">
            <a:avLst>
              <a:gd fmla="val 2759"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txBox="1"/>
          <p:nvPr/>
        </p:nvSpPr>
        <p:spPr>
          <a:xfrm>
            <a:off x="6263640" y="1420978"/>
            <a:ext cx="21945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300"/>
              <a:buFont typeface="Calibri"/>
              <a:buNone/>
            </a:pPr>
            <a:r>
              <a:rPr b="1" i="0" lang="en-US" sz="1300" u="none" cap="none" strike="noStrike">
                <a:solidFill>
                  <a:srgbClr val="E4572E"/>
                </a:solidFill>
                <a:latin typeface="Calibri"/>
                <a:ea typeface="Calibri"/>
                <a:cs typeface="Calibri"/>
                <a:sym typeface="Calibri"/>
              </a:rPr>
              <a:t>The accuracy trap</a:t>
            </a:r>
            <a:endParaRPr b="0" i="0" sz="1300" u="none" cap="none" strike="noStrike">
              <a:solidFill>
                <a:schemeClr val="dk1"/>
              </a:solidFill>
              <a:latin typeface="Calibri"/>
              <a:ea typeface="Calibri"/>
              <a:cs typeface="Calibri"/>
              <a:sym typeface="Calibri"/>
            </a:endParaRPr>
          </a:p>
        </p:txBody>
      </p:sp>
      <p:sp>
        <p:nvSpPr>
          <p:cNvPr id="205" name="Google Shape;205;p12"/>
          <p:cNvSpPr txBox="1"/>
          <p:nvPr/>
        </p:nvSpPr>
        <p:spPr>
          <a:xfrm>
            <a:off x="6263640" y="1848917"/>
            <a:ext cx="2194560" cy="219456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Random Forest has the highest accuracy (0.827) and the worst F1 (0.386) — it catches only 34% of leavers.</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100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Logistic Regression catches the most leavers (recall 0.702) but flags far more people wrongly.</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100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SVM gives the best balance: F1 = 0.519.</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13"/>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MODEL SELECTION</a:t>
            </a:r>
            <a:endParaRPr b="0" i="0" sz="1100" u="none" cap="none" strike="noStrike">
              <a:solidFill>
                <a:schemeClr val="dk1"/>
              </a:solidFill>
              <a:latin typeface="Calibri"/>
              <a:ea typeface="Calibri"/>
              <a:cs typeface="Calibri"/>
              <a:sym typeface="Calibri"/>
            </a:endParaRPr>
          </a:p>
        </p:txBody>
      </p:sp>
      <p:sp>
        <p:nvSpPr>
          <p:cNvPr id="212" name="Google Shape;212;p13"/>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Final model: Support Vector Machine</a:t>
            </a:r>
            <a:endParaRPr b="0" i="0" sz="3000" u="none" cap="none" strike="noStrike">
              <a:solidFill>
                <a:schemeClr val="dk1"/>
              </a:solidFill>
              <a:latin typeface="Calibri"/>
              <a:ea typeface="Calibri"/>
              <a:cs typeface="Calibri"/>
              <a:sym typeface="Calibri"/>
            </a:endParaRPr>
          </a:p>
        </p:txBody>
      </p:sp>
      <p:sp>
        <p:nvSpPr>
          <p:cNvPr id="213" name="Google Shape;213;p13"/>
          <p:cNvSpPr/>
          <p:nvPr/>
        </p:nvSpPr>
        <p:spPr>
          <a:xfrm>
            <a:off x="502920" y="1260500"/>
            <a:ext cx="1508760" cy="1230325"/>
          </a:xfrm>
          <a:prstGeom prst="roundRect">
            <a:avLst>
              <a:gd fmla="val 5946"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
          <p:cNvSpPr txBox="1"/>
          <p:nvPr/>
        </p:nvSpPr>
        <p:spPr>
          <a:xfrm>
            <a:off x="502920" y="1388882"/>
            <a:ext cx="1508760" cy="5349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0.823</a:t>
            </a:r>
            <a:endParaRPr b="0" i="0" sz="2400" u="none" cap="none" strike="noStrike">
              <a:solidFill>
                <a:schemeClr val="dk1"/>
              </a:solidFill>
              <a:latin typeface="Calibri"/>
              <a:ea typeface="Calibri"/>
              <a:cs typeface="Calibri"/>
              <a:sym typeface="Calibri"/>
            </a:endParaRPr>
          </a:p>
        </p:txBody>
      </p:sp>
      <p:sp>
        <p:nvSpPr>
          <p:cNvPr id="215" name="Google Shape;215;p13"/>
          <p:cNvSpPr txBox="1"/>
          <p:nvPr/>
        </p:nvSpPr>
        <p:spPr>
          <a:xfrm>
            <a:off x="502920" y="1955902"/>
            <a:ext cx="1508760" cy="3209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Accuracy</a:t>
            </a:r>
            <a:endParaRPr b="0" i="0" sz="1050" u="none" cap="none" strike="noStrike">
              <a:solidFill>
                <a:schemeClr val="dk1"/>
              </a:solidFill>
              <a:latin typeface="Calibri"/>
              <a:ea typeface="Calibri"/>
              <a:cs typeface="Calibri"/>
              <a:sym typeface="Calibri"/>
            </a:endParaRPr>
          </a:p>
        </p:txBody>
      </p:sp>
      <p:sp>
        <p:nvSpPr>
          <p:cNvPr id="216" name="Google Shape;216;p13"/>
          <p:cNvSpPr/>
          <p:nvPr/>
        </p:nvSpPr>
        <p:spPr>
          <a:xfrm>
            <a:off x="2148840" y="1260500"/>
            <a:ext cx="1508760" cy="1230325"/>
          </a:xfrm>
          <a:prstGeom prst="roundRect">
            <a:avLst>
              <a:gd fmla="val 5946"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
          <p:cNvSpPr txBox="1"/>
          <p:nvPr/>
        </p:nvSpPr>
        <p:spPr>
          <a:xfrm>
            <a:off x="2148840" y="1388882"/>
            <a:ext cx="1508760" cy="5349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0.459</a:t>
            </a:r>
            <a:endParaRPr b="0" i="0" sz="2400" u="none" cap="none" strike="noStrike">
              <a:solidFill>
                <a:schemeClr val="dk1"/>
              </a:solidFill>
              <a:latin typeface="Calibri"/>
              <a:ea typeface="Calibri"/>
              <a:cs typeface="Calibri"/>
              <a:sym typeface="Calibri"/>
            </a:endParaRPr>
          </a:p>
        </p:txBody>
      </p:sp>
      <p:sp>
        <p:nvSpPr>
          <p:cNvPr id="218" name="Google Shape;218;p13"/>
          <p:cNvSpPr txBox="1"/>
          <p:nvPr/>
        </p:nvSpPr>
        <p:spPr>
          <a:xfrm>
            <a:off x="2148840" y="1955902"/>
            <a:ext cx="1508760" cy="3209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Precision</a:t>
            </a:r>
            <a:endParaRPr b="0" i="0" sz="1050" u="none" cap="none" strike="noStrike">
              <a:solidFill>
                <a:schemeClr val="dk1"/>
              </a:solidFill>
              <a:latin typeface="Calibri"/>
              <a:ea typeface="Calibri"/>
              <a:cs typeface="Calibri"/>
              <a:sym typeface="Calibri"/>
            </a:endParaRPr>
          </a:p>
        </p:txBody>
      </p:sp>
      <p:sp>
        <p:nvSpPr>
          <p:cNvPr id="219" name="Google Shape;219;p13"/>
          <p:cNvSpPr/>
          <p:nvPr/>
        </p:nvSpPr>
        <p:spPr>
          <a:xfrm>
            <a:off x="3794760" y="1260500"/>
            <a:ext cx="1508760" cy="1230325"/>
          </a:xfrm>
          <a:prstGeom prst="roundRect">
            <a:avLst>
              <a:gd fmla="val 5946"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txBox="1"/>
          <p:nvPr/>
        </p:nvSpPr>
        <p:spPr>
          <a:xfrm>
            <a:off x="3794760" y="1388882"/>
            <a:ext cx="1508760" cy="5349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0.596</a:t>
            </a:r>
            <a:endParaRPr b="0" i="0" sz="2400" u="none" cap="none" strike="noStrike">
              <a:solidFill>
                <a:schemeClr val="dk1"/>
              </a:solidFill>
              <a:latin typeface="Calibri"/>
              <a:ea typeface="Calibri"/>
              <a:cs typeface="Calibri"/>
              <a:sym typeface="Calibri"/>
            </a:endParaRPr>
          </a:p>
        </p:txBody>
      </p:sp>
      <p:sp>
        <p:nvSpPr>
          <p:cNvPr id="221" name="Google Shape;221;p13"/>
          <p:cNvSpPr txBox="1"/>
          <p:nvPr/>
        </p:nvSpPr>
        <p:spPr>
          <a:xfrm>
            <a:off x="3794760" y="1955902"/>
            <a:ext cx="1508760" cy="3209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Recall</a:t>
            </a:r>
            <a:endParaRPr b="0" i="0" sz="1050" u="none" cap="none" strike="noStrike">
              <a:solidFill>
                <a:schemeClr val="dk1"/>
              </a:solidFill>
              <a:latin typeface="Calibri"/>
              <a:ea typeface="Calibri"/>
              <a:cs typeface="Calibri"/>
              <a:sym typeface="Calibri"/>
            </a:endParaRPr>
          </a:p>
        </p:txBody>
      </p:sp>
      <p:sp>
        <p:nvSpPr>
          <p:cNvPr id="222" name="Google Shape;222;p13"/>
          <p:cNvSpPr/>
          <p:nvPr/>
        </p:nvSpPr>
        <p:spPr>
          <a:xfrm>
            <a:off x="5440680" y="1260500"/>
            <a:ext cx="1508760" cy="1230325"/>
          </a:xfrm>
          <a:prstGeom prst="roundRect">
            <a:avLst>
              <a:gd fmla="val 5946"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3"/>
          <p:cNvSpPr txBox="1"/>
          <p:nvPr/>
        </p:nvSpPr>
        <p:spPr>
          <a:xfrm>
            <a:off x="5440680" y="1388882"/>
            <a:ext cx="1508760" cy="5349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0.519</a:t>
            </a:r>
            <a:endParaRPr b="0" i="0" sz="2400" u="none" cap="none" strike="noStrike">
              <a:solidFill>
                <a:schemeClr val="dk1"/>
              </a:solidFill>
              <a:latin typeface="Calibri"/>
              <a:ea typeface="Calibri"/>
              <a:cs typeface="Calibri"/>
              <a:sym typeface="Calibri"/>
            </a:endParaRPr>
          </a:p>
        </p:txBody>
      </p:sp>
      <p:sp>
        <p:nvSpPr>
          <p:cNvPr id="224" name="Google Shape;224;p13"/>
          <p:cNvSpPr txBox="1"/>
          <p:nvPr/>
        </p:nvSpPr>
        <p:spPr>
          <a:xfrm>
            <a:off x="5440680" y="1955902"/>
            <a:ext cx="1508760" cy="3209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F1-score</a:t>
            </a:r>
            <a:endParaRPr b="0" i="0" sz="1050" u="none" cap="none" strike="noStrike">
              <a:solidFill>
                <a:schemeClr val="dk1"/>
              </a:solidFill>
              <a:latin typeface="Calibri"/>
              <a:ea typeface="Calibri"/>
              <a:cs typeface="Calibri"/>
              <a:sym typeface="Calibri"/>
            </a:endParaRPr>
          </a:p>
        </p:txBody>
      </p:sp>
      <p:sp>
        <p:nvSpPr>
          <p:cNvPr id="225" name="Google Shape;225;p13"/>
          <p:cNvSpPr/>
          <p:nvPr/>
        </p:nvSpPr>
        <p:spPr>
          <a:xfrm>
            <a:off x="7086600" y="1260500"/>
            <a:ext cx="1508760" cy="1230325"/>
          </a:xfrm>
          <a:prstGeom prst="roundRect">
            <a:avLst>
              <a:gd fmla="val 5946"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txBox="1"/>
          <p:nvPr/>
        </p:nvSpPr>
        <p:spPr>
          <a:xfrm>
            <a:off x="7086600" y="1388882"/>
            <a:ext cx="1508760" cy="5349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0.569</a:t>
            </a:r>
            <a:endParaRPr b="0" i="0" sz="2400" u="none" cap="none" strike="noStrike">
              <a:solidFill>
                <a:schemeClr val="dk1"/>
              </a:solidFill>
              <a:latin typeface="Calibri"/>
              <a:ea typeface="Calibri"/>
              <a:cs typeface="Calibri"/>
              <a:sym typeface="Calibri"/>
            </a:endParaRPr>
          </a:p>
        </p:txBody>
      </p:sp>
      <p:sp>
        <p:nvSpPr>
          <p:cNvPr id="227" name="Google Shape;227;p13"/>
          <p:cNvSpPr txBox="1"/>
          <p:nvPr/>
        </p:nvSpPr>
        <p:spPr>
          <a:xfrm>
            <a:off x="7086600" y="1955902"/>
            <a:ext cx="1508760" cy="3209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PR-AUC</a:t>
            </a:r>
            <a:endParaRPr b="0" i="0" sz="1050" u="none" cap="none" strike="noStrike">
              <a:solidFill>
                <a:schemeClr val="dk1"/>
              </a:solidFill>
              <a:latin typeface="Calibri"/>
              <a:ea typeface="Calibri"/>
              <a:cs typeface="Calibri"/>
              <a:sym typeface="Calibri"/>
            </a:endParaRPr>
          </a:p>
        </p:txBody>
      </p:sp>
      <p:sp>
        <p:nvSpPr>
          <p:cNvPr id="228" name="Google Shape;228;p13"/>
          <p:cNvSpPr txBox="1"/>
          <p:nvPr/>
        </p:nvSpPr>
        <p:spPr>
          <a:xfrm>
            <a:off x="502920" y="2811780"/>
            <a:ext cx="81381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What these numbers mean in HR terms</a:t>
            </a:r>
            <a:endParaRPr b="0" i="0" sz="1400" u="none" cap="none" strike="noStrike">
              <a:solidFill>
                <a:schemeClr val="dk1"/>
              </a:solidFill>
              <a:latin typeface="Calibri"/>
              <a:ea typeface="Calibri"/>
              <a:cs typeface="Calibri"/>
              <a:sym typeface="Calibri"/>
            </a:endParaRPr>
          </a:p>
        </p:txBody>
      </p:sp>
      <p:sp>
        <p:nvSpPr>
          <p:cNvPr id="229" name="Google Shape;229;p13"/>
          <p:cNvSpPr txBox="1"/>
          <p:nvPr/>
        </p:nvSpPr>
        <p:spPr>
          <a:xfrm>
            <a:off x="502920" y="3239719"/>
            <a:ext cx="8138160" cy="1711757"/>
          </a:xfrm>
          <a:prstGeom prst="rect">
            <a:avLst/>
          </a:prstGeom>
          <a:noFill/>
          <a:ln>
            <a:noFill/>
          </a:ln>
        </p:spPr>
        <p:txBody>
          <a:bodyPr anchorCtr="0" anchor="ctr" bIns="0" lIns="0" spcFirstLastPara="1" rIns="0" wrap="square" tIns="0">
            <a:noAutofit/>
          </a:bodyPr>
          <a:lstStyle/>
          <a:p>
            <a:pPr indent="-342900" lvl="0" marL="342900" marR="0" rtl="0" algn="l">
              <a:lnSpc>
                <a:spcPct val="136000"/>
              </a:lnSpc>
              <a:spcBef>
                <a:spcPts val="0"/>
              </a:spcBef>
              <a:spcAft>
                <a:spcPts val="0"/>
              </a:spcAft>
              <a:buClr>
                <a:srgbClr val="1B2333"/>
              </a:buClr>
              <a:buSzPts val="1250"/>
              <a:buFont typeface="Calibri"/>
              <a:buChar char="•"/>
            </a:pPr>
            <a:r>
              <a:rPr b="0" i="0" lang="en-US" sz="1250" u="none" cap="none" strike="noStrike">
                <a:solidFill>
                  <a:srgbClr val="1B2333"/>
                </a:solidFill>
                <a:latin typeface="Calibri"/>
                <a:ea typeface="Calibri"/>
                <a:cs typeface="Calibri"/>
                <a:sym typeface="Calibri"/>
              </a:rPr>
              <a:t>Recall 0.596 — of the employees who actually left, the model flagged about 6 in 10 in advance.</a:t>
            </a:r>
            <a:endParaRPr b="0" i="0" sz="1250" u="none" cap="none" strike="noStrike">
              <a:solidFill>
                <a:schemeClr val="dk1"/>
              </a:solidFill>
              <a:latin typeface="Calibri"/>
              <a:ea typeface="Calibri"/>
              <a:cs typeface="Calibri"/>
              <a:sym typeface="Calibri"/>
            </a:endParaRPr>
          </a:p>
          <a:p>
            <a:pPr indent="-342900" lvl="0" marL="342900" marR="0" rtl="0" algn="l">
              <a:lnSpc>
                <a:spcPct val="136000"/>
              </a:lnSpc>
              <a:spcBef>
                <a:spcPts val="800"/>
              </a:spcBef>
              <a:spcAft>
                <a:spcPts val="0"/>
              </a:spcAft>
              <a:buClr>
                <a:srgbClr val="1B2333"/>
              </a:buClr>
              <a:buSzPts val="1250"/>
              <a:buFont typeface="Calibri"/>
              <a:buChar char="•"/>
            </a:pPr>
            <a:r>
              <a:rPr b="0" i="0" lang="en-US" sz="1250" u="none" cap="none" strike="noStrike">
                <a:solidFill>
                  <a:srgbClr val="1B2333"/>
                </a:solidFill>
                <a:latin typeface="Calibri"/>
                <a:ea typeface="Calibri"/>
                <a:cs typeface="Calibri"/>
                <a:sym typeface="Calibri"/>
              </a:rPr>
              <a:t>Precision 0.459 — of the employees it flagged, a little under half actually left; the rest are false alarms.</a:t>
            </a:r>
            <a:endParaRPr b="0" i="0" sz="1250" u="none" cap="none" strike="noStrike">
              <a:solidFill>
                <a:schemeClr val="dk1"/>
              </a:solidFill>
              <a:latin typeface="Calibri"/>
              <a:ea typeface="Calibri"/>
              <a:cs typeface="Calibri"/>
              <a:sym typeface="Calibri"/>
            </a:endParaRPr>
          </a:p>
          <a:p>
            <a:pPr indent="-342900" lvl="0" marL="342900" marR="0" rtl="0" algn="l">
              <a:lnSpc>
                <a:spcPct val="136000"/>
              </a:lnSpc>
              <a:spcBef>
                <a:spcPts val="800"/>
              </a:spcBef>
              <a:spcAft>
                <a:spcPts val="0"/>
              </a:spcAft>
              <a:buClr>
                <a:srgbClr val="1B2333"/>
              </a:buClr>
              <a:buSzPts val="1250"/>
              <a:buFont typeface="Calibri"/>
              <a:buChar char="•"/>
            </a:pPr>
            <a:r>
              <a:rPr b="0" i="0" lang="en-US" sz="1250" u="none" cap="none" strike="noStrike">
                <a:solidFill>
                  <a:srgbClr val="1B2333"/>
                </a:solidFill>
                <a:latin typeface="Calibri"/>
                <a:ea typeface="Calibri"/>
                <a:cs typeface="Calibri"/>
                <a:sym typeface="Calibri"/>
              </a:rPr>
              <a:t>Logistic Regression had a better PR-AUC (0.624). It would be the better pick if an organisation decided missed leavers cost far more than false alarms — a business trade-off, not a technical one.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14"/>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INTERPRETATION · SHAP</a:t>
            </a:r>
            <a:endParaRPr b="0" i="0" sz="1100" u="none" cap="none" strike="noStrike">
              <a:solidFill>
                <a:schemeClr val="dk1"/>
              </a:solidFill>
              <a:latin typeface="Calibri"/>
              <a:ea typeface="Calibri"/>
              <a:cs typeface="Calibri"/>
              <a:sym typeface="Calibri"/>
            </a:endParaRPr>
          </a:p>
        </p:txBody>
      </p:sp>
      <p:sp>
        <p:nvSpPr>
          <p:cNvPr id="236" name="Google Shape;236;p14"/>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What drives the model's predictions</a:t>
            </a:r>
            <a:endParaRPr b="0" i="0" sz="3000" u="none" cap="none" strike="noStrike">
              <a:solidFill>
                <a:schemeClr val="dk1"/>
              </a:solidFill>
              <a:latin typeface="Calibri"/>
              <a:ea typeface="Calibri"/>
              <a:cs typeface="Calibri"/>
              <a:sym typeface="Calibri"/>
            </a:endParaRPr>
          </a:p>
        </p:txBody>
      </p:sp>
      <p:pic>
        <p:nvPicPr>
          <p:cNvPr id="237" name="Google Shape;237;p14"/>
          <p:cNvPicPr preferRelativeResize="0"/>
          <p:nvPr/>
        </p:nvPicPr>
        <p:blipFill rotWithShape="1">
          <a:blip r:embed="rId3">
            <a:alphaModFix/>
          </a:blip>
          <a:srcRect b="0" l="0" r="0" t="0"/>
          <a:stretch/>
        </p:blipFill>
        <p:spPr>
          <a:xfrm>
            <a:off x="457200" y="1207008"/>
            <a:ext cx="5394960" cy="3477006"/>
          </a:xfrm>
          <a:prstGeom prst="rect">
            <a:avLst/>
          </a:prstGeom>
          <a:noFill/>
          <a:ln>
            <a:noFill/>
          </a:ln>
        </p:spPr>
      </p:pic>
      <p:sp>
        <p:nvSpPr>
          <p:cNvPr id="238" name="Google Shape;238;p14"/>
          <p:cNvSpPr/>
          <p:nvPr/>
        </p:nvSpPr>
        <p:spPr>
          <a:xfrm>
            <a:off x="6035040" y="1207008"/>
            <a:ext cx="2651760" cy="3477006"/>
          </a:xfrm>
          <a:prstGeom prst="roundRect">
            <a:avLst>
              <a:gd fmla="val 2759"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txBox="1"/>
          <p:nvPr/>
        </p:nvSpPr>
        <p:spPr>
          <a:xfrm>
            <a:off x="6263640" y="1420978"/>
            <a:ext cx="21945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Why SHAP?</a:t>
            </a:r>
            <a:endParaRPr b="0" i="0" sz="1300" u="none" cap="none" strike="noStrike">
              <a:solidFill>
                <a:schemeClr val="dk1"/>
              </a:solidFill>
              <a:latin typeface="Calibri"/>
              <a:ea typeface="Calibri"/>
              <a:cs typeface="Calibri"/>
              <a:sym typeface="Calibri"/>
            </a:endParaRPr>
          </a:p>
        </p:txBody>
      </p:sp>
      <p:sp>
        <p:nvSpPr>
          <p:cNvPr id="240" name="Google Shape;240;p14"/>
          <p:cNvSpPr txBox="1"/>
          <p:nvPr/>
        </p:nvSpPr>
        <p:spPr>
          <a:xfrm>
            <a:off x="6263640" y="1848917"/>
            <a:ext cx="2194560" cy="26746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An SVM has no built-in feature importance, so we used a SHAP KernelExplainer.</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1000"/>
              </a:spcBef>
              <a:spcAft>
                <a:spcPts val="0"/>
              </a:spcAft>
              <a:buClr>
                <a:srgbClr val="1B2333"/>
              </a:buClr>
              <a:buSzPts val="1150"/>
              <a:buFont typeface="Calibri"/>
              <a:buNone/>
            </a:pPr>
            <a:r>
              <a:rPr b="0" i="0" lang="en-US" sz="1150" u="none" cap="none" strike="noStrike">
                <a:solidFill>
                  <a:srgbClr val="1B2333"/>
                </a:solidFill>
                <a:latin typeface="Calibri"/>
                <a:ea typeface="Calibri"/>
                <a:cs typeface="Calibri"/>
                <a:sym typeface="Calibri"/>
              </a:rPr>
              <a:t>Encoded categories were aggregated back to the original HR variables so the output is readable.</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1000"/>
              </a:spcBef>
              <a:spcAft>
                <a:spcPts val="0"/>
              </a:spcAft>
              <a:buClr>
                <a:srgbClr val="E4572E"/>
              </a:buClr>
              <a:buSzPts val="1150"/>
              <a:buFont typeface="Calibri"/>
              <a:buNone/>
            </a:pPr>
            <a:r>
              <a:rPr b="1" i="0" lang="en-US" sz="1150" u="none" cap="none" strike="noStrike">
                <a:solidFill>
                  <a:srgbClr val="E4572E"/>
                </a:solidFill>
                <a:latin typeface="Calibri"/>
                <a:ea typeface="Calibri"/>
                <a:cs typeface="Calibri"/>
                <a:sym typeface="Calibri"/>
              </a:rPr>
              <a:t>OverTime dominates — but SHAP explains the model, not the world. This is not proof that overtime causes people to quit.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5"/>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INTERPRETATION · INDIVIDUAL</a:t>
            </a:r>
            <a:endParaRPr b="0" i="0" sz="1100" u="none" cap="none" strike="noStrike">
              <a:solidFill>
                <a:schemeClr val="dk1"/>
              </a:solidFill>
              <a:latin typeface="Calibri"/>
              <a:ea typeface="Calibri"/>
              <a:cs typeface="Calibri"/>
              <a:sym typeface="Calibri"/>
            </a:endParaRPr>
          </a:p>
        </p:txBody>
      </p:sp>
      <p:sp>
        <p:nvSpPr>
          <p:cNvPr id="247" name="Google Shape;247;p15"/>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Explaining one employee: #357</a:t>
            </a:r>
            <a:endParaRPr b="0" i="0" sz="3000" u="none" cap="none" strike="noStrike">
              <a:solidFill>
                <a:schemeClr val="dk1"/>
              </a:solidFill>
              <a:latin typeface="Calibri"/>
              <a:ea typeface="Calibri"/>
              <a:cs typeface="Calibri"/>
              <a:sym typeface="Calibri"/>
            </a:endParaRPr>
          </a:p>
        </p:txBody>
      </p:sp>
      <p:sp>
        <p:nvSpPr>
          <p:cNvPr id="248" name="Google Shape;248;p15"/>
          <p:cNvSpPr/>
          <p:nvPr/>
        </p:nvSpPr>
        <p:spPr>
          <a:xfrm>
            <a:off x="502920" y="1260500"/>
            <a:ext cx="2880360" cy="3209544"/>
          </a:xfrm>
          <a:prstGeom prst="roundRect">
            <a:avLst>
              <a:gd fmla="val 2540"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txBox="1"/>
          <p:nvPr/>
        </p:nvSpPr>
        <p:spPr>
          <a:xfrm>
            <a:off x="685800" y="1634947"/>
            <a:ext cx="2514600" cy="80238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4400"/>
              <a:buFont typeface="Cambria"/>
              <a:buNone/>
            </a:pPr>
            <a:r>
              <a:rPr b="1" i="0" lang="en-US" sz="4400" u="none" cap="none" strike="noStrike">
                <a:solidFill>
                  <a:srgbClr val="E4572E"/>
                </a:solidFill>
                <a:latin typeface="Cambria"/>
                <a:ea typeface="Cambria"/>
                <a:cs typeface="Cambria"/>
                <a:sym typeface="Cambria"/>
              </a:rPr>
              <a:t>93.1%</a:t>
            </a:r>
            <a:endParaRPr b="0" i="0" sz="4400" u="none" cap="none" strike="noStrike">
              <a:solidFill>
                <a:schemeClr val="dk1"/>
              </a:solidFill>
              <a:latin typeface="Calibri"/>
              <a:ea typeface="Calibri"/>
              <a:cs typeface="Calibri"/>
              <a:sym typeface="Calibri"/>
            </a:endParaRPr>
          </a:p>
        </p:txBody>
      </p:sp>
      <p:sp>
        <p:nvSpPr>
          <p:cNvPr id="250" name="Google Shape;250;p15"/>
          <p:cNvSpPr txBox="1"/>
          <p:nvPr/>
        </p:nvSpPr>
        <p:spPr>
          <a:xfrm>
            <a:off x="685800" y="2437333"/>
            <a:ext cx="2514600" cy="37444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predicted probability of leaving</a:t>
            </a:r>
            <a:endParaRPr b="0" i="0" sz="1200" u="none" cap="none" strike="noStrike">
              <a:solidFill>
                <a:schemeClr val="dk1"/>
              </a:solidFill>
              <a:latin typeface="Calibri"/>
              <a:ea typeface="Calibri"/>
              <a:cs typeface="Calibri"/>
              <a:sym typeface="Calibri"/>
            </a:endParaRPr>
          </a:p>
        </p:txBody>
      </p:sp>
      <p:sp>
        <p:nvSpPr>
          <p:cNvPr id="251" name="Google Shape;251;p15"/>
          <p:cNvSpPr txBox="1"/>
          <p:nvPr/>
        </p:nvSpPr>
        <p:spPr>
          <a:xfrm>
            <a:off x="685800" y="3186227"/>
            <a:ext cx="2514600" cy="85587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Predicted outcome:  Left</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Actual outcome:  Left</a:t>
            </a:r>
            <a:endParaRPr b="0" i="0" sz="1300" u="none" cap="none" strike="noStrike">
              <a:solidFill>
                <a:schemeClr val="dk1"/>
              </a:solidFill>
              <a:latin typeface="Calibri"/>
              <a:ea typeface="Calibri"/>
              <a:cs typeface="Calibri"/>
              <a:sym typeface="Calibri"/>
            </a:endParaRPr>
          </a:p>
        </p:txBody>
      </p:sp>
      <p:sp>
        <p:nvSpPr>
          <p:cNvPr id="252" name="Google Shape;252;p15"/>
          <p:cNvSpPr txBox="1"/>
          <p:nvPr/>
        </p:nvSpPr>
        <p:spPr>
          <a:xfrm>
            <a:off x="3703320" y="1313993"/>
            <a:ext cx="49377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What pushed the prediction up</a:t>
            </a:r>
            <a:endParaRPr b="0" i="0" sz="1400" u="none" cap="none" strike="noStrike">
              <a:solidFill>
                <a:schemeClr val="dk1"/>
              </a:solidFill>
              <a:latin typeface="Calibri"/>
              <a:ea typeface="Calibri"/>
              <a:cs typeface="Calibri"/>
              <a:sym typeface="Calibri"/>
            </a:endParaRPr>
          </a:p>
        </p:txBody>
      </p:sp>
      <p:sp>
        <p:nvSpPr>
          <p:cNvPr id="253" name="Google Shape;253;p15"/>
          <p:cNvSpPr txBox="1"/>
          <p:nvPr/>
        </p:nvSpPr>
        <p:spPr>
          <a:xfrm>
            <a:off x="3703320" y="1741932"/>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OverTime</a:t>
            </a:r>
            <a:endParaRPr b="0" i="0" sz="1100" u="none" cap="none" strike="noStrike">
              <a:solidFill>
                <a:schemeClr val="dk1"/>
              </a:solidFill>
              <a:latin typeface="Calibri"/>
              <a:ea typeface="Calibri"/>
              <a:cs typeface="Calibri"/>
              <a:sym typeface="Calibri"/>
            </a:endParaRPr>
          </a:p>
        </p:txBody>
      </p:sp>
      <p:sp>
        <p:nvSpPr>
          <p:cNvPr id="254" name="Google Shape;254;p15"/>
          <p:cNvSpPr txBox="1"/>
          <p:nvPr/>
        </p:nvSpPr>
        <p:spPr>
          <a:xfrm>
            <a:off x="3703320" y="1977299"/>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Yes</a:t>
            </a:r>
            <a:endParaRPr b="0" i="0" sz="1300" u="none" cap="none" strike="noStrike">
              <a:solidFill>
                <a:schemeClr val="dk1"/>
              </a:solidFill>
              <a:latin typeface="Calibri"/>
              <a:ea typeface="Calibri"/>
              <a:cs typeface="Calibri"/>
              <a:sym typeface="Calibri"/>
            </a:endParaRPr>
          </a:p>
        </p:txBody>
      </p:sp>
      <p:sp>
        <p:nvSpPr>
          <p:cNvPr id="255" name="Google Shape;255;p15"/>
          <p:cNvSpPr txBox="1"/>
          <p:nvPr/>
        </p:nvSpPr>
        <p:spPr>
          <a:xfrm>
            <a:off x="6217920" y="1741932"/>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Age</a:t>
            </a:r>
            <a:endParaRPr b="0" i="0" sz="1100" u="none" cap="none" strike="noStrike">
              <a:solidFill>
                <a:schemeClr val="dk1"/>
              </a:solidFill>
              <a:latin typeface="Calibri"/>
              <a:ea typeface="Calibri"/>
              <a:cs typeface="Calibri"/>
              <a:sym typeface="Calibri"/>
            </a:endParaRPr>
          </a:p>
        </p:txBody>
      </p:sp>
      <p:sp>
        <p:nvSpPr>
          <p:cNvPr id="256" name="Google Shape;256;p15"/>
          <p:cNvSpPr txBox="1"/>
          <p:nvPr/>
        </p:nvSpPr>
        <p:spPr>
          <a:xfrm>
            <a:off x="6217920" y="1977299"/>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21</a:t>
            </a:r>
            <a:endParaRPr b="0" i="0" sz="1300" u="none" cap="none" strike="noStrike">
              <a:solidFill>
                <a:schemeClr val="dk1"/>
              </a:solidFill>
              <a:latin typeface="Calibri"/>
              <a:ea typeface="Calibri"/>
              <a:cs typeface="Calibri"/>
              <a:sym typeface="Calibri"/>
            </a:endParaRPr>
          </a:p>
        </p:txBody>
      </p:sp>
      <p:sp>
        <p:nvSpPr>
          <p:cNvPr id="257" name="Google Shape;257;p15"/>
          <p:cNvSpPr txBox="1"/>
          <p:nvPr/>
        </p:nvSpPr>
        <p:spPr>
          <a:xfrm>
            <a:off x="3703320" y="2383841"/>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EnvironmentSatisfaction</a:t>
            </a:r>
            <a:endParaRPr b="0" i="0" sz="1100" u="none" cap="none" strike="noStrike">
              <a:solidFill>
                <a:schemeClr val="dk1"/>
              </a:solidFill>
              <a:latin typeface="Calibri"/>
              <a:ea typeface="Calibri"/>
              <a:cs typeface="Calibri"/>
              <a:sym typeface="Calibri"/>
            </a:endParaRPr>
          </a:p>
        </p:txBody>
      </p:sp>
      <p:sp>
        <p:nvSpPr>
          <p:cNvPr id="258" name="Google Shape;258;p15"/>
          <p:cNvSpPr txBox="1"/>
          <p:nvPr/>
        </p:nvSpPr>
        <p:spPr>
          <a:xfrm>
            <a:off x="3703320" y="2619207"/>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1 (lowest)</a:t>
            </a:r>
            <a:endParaRPr b="0" i="0" sz="1300" u="none" cap="none" strike="noStrike">
              <a:solidFill>
                <a:schemeClr val="dk1"/>
              </a:solidFill>
              <a:latin typeface="Calibri"/>
              <a:ea typeface="Calibri"/>
              <a:cs typeface="Calibri"/>
              <a:sym typeface="Calibri"/>
            </a:endParaRPr>
          </a:p>
        </p:txBody>
      </p:sp>
      <p:sp>
        <p:nvSpPr>
          <p:cNvPr id="259" name="Google Shape;259;p15"/>
          <p:cNvSpPr txBox="1"/>
          <p:nvPr/>
        </p:nvSpPr>
        <p:spPr>
          <a:xfrm>
            <a:off x="6217920" y="2383841"/>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TotalWorkingYears</a:t>
            </a:r>
            <a:endParaRPr b="0" i="0" sz="1100" u="none" cap="none" strike="noStrike">
              <a:solidFill>
                <a:schemeClr val="dk1"/>
              </a:solidFill>
              <a:latin typeface="Calibri"/>
              <a:ea typeface="Calibri"/>
              <a:cs typeface="Calibri"/>
              <a:sym typeface="Calibri"/>
            </a:endParaRPr>
          </a:p>
        </p:txBody>
      </p:sp>
      <p:sp>
        <p:nvSpPr>
          <p:cNvPr id="260" name="Google Shape;260;p15"/>
          <p:cNvSpPr txBox="1"/>
          <p:nvPr/>
        </p:nvSpPr>
        <p:spPr>
          <a:xfrm>
            <a:off x="6217920" y="2619207"/>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61" name="Google Shape;261;p15"/>
          <p:cNvSpPr txBox="1"/>
          <p:nvPr/>
        </p:nvSpPr>
        <p:spPr>
          <a:xfrm>
            <a:off x="3703320" y="3025750"/>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BusinessTravel</a:t>
            </a:r>
            <a:endParaRPr b="0" i="0" sz="1100" u="none" cap="none" strike="noStrike">
              <a:solidFill>
                <a:schemeClr val="dk1"/>
              </a:solidFill>
              <a:latin typeface="Calibri"/>
              <a:ea typeface="Calibri"/>
              <a:cs typeface="Calibri"/>
              <a:sym typeface="Calibri"/>
            </a:endParaRPr>
          </a:p>
        </p:txBody>
      </p:sp>
      <p:sp>
        <p:nvSpPr>
          <p:cNvPr id="262" name="Google Shape;262;p15"/>
          <p:cNvSpPr txBox="1"/>
          <p:nvPr/>
        </p:nvSpPr>
        <p:spPr>
          <a:xfrm>
            <a:off x="3703320" y="3261116"/>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Travel_Frequently</a:t>
            </a:r>
            <a:endParaRPr b="0" i="0" sz="1300" u="none" cap="none" strike="noStrike">
              <a:solidFill>
                <a:schemeClr val="dk1"/>
              </a:solidFill>
              <a:latin typeface="Calibri"/>
              <a:ea typeface="Calibri"/>
              <a:cs typeface="Calibri"/>
              <a:sym typeface="Calibri"/>
            </a:endParaRPr>
          </a:p>
        </p:txBody>
      </p:sp>
      <p:sp>
        <p:nvSpPr>
          <p:cNvPr id="263" name="Google Shape;263;p15"/>
          <p:cNvSpPr txBox="1"/>
          <p:nvPr/>
        </p:nvSpPr>
        <p:spPr>
          <a:xfrm>
            <a:off x="6217920" y="3025750"/>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JobRole</a:t>
            </a:r>
            <a:endParaRPr b="0" i="0" sz="1100" u="none" cap="none" strike="noStrike">
              <a:solidFill>
                <a:schemeClr val="dk1"/>
              </a:solidFill>
              <a:latin typeface="Calibri"/>
              <a:ea typeface="Calibri"/>
              <a:cs typeface="Calibri"/>
              <a:sym typeface="Calibri"/>
            </a:endParaRPr>
          </a:p>
        </p:txBody>
      </p:sp>
      <p:sp>
        <p:nvSpPr>
          <p:cNvPr id="264" name="Google Shape;264;p15"/>
          <p:cNvSpPr txBox="1"/>
          <p:nvPr/>
        </p:nvSpPr>
        <p:spPr>
          <a:xfrm>
            <a:off x="6217920" y="3261116"/>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Sales Representative</a:t>
            </a:r>
            <a:endParaRPr b="0" i="0" sz="1300" u="none" cap="none" strike="noStrike">
              <a:solidFill>
                <a:schemeClr val="dk1"/>
              </a:solidFill>
              <a:latin typeface="Calibri"/>
              <a:ea typeface="Calibri"/>
              <a:cs typeface="Calibri"/>
              <a:sym typeface="Calibri"/>
            </a:endParaRPr>
          </a:p>
        </p:txBody>
      </p:sp>
      <p:sp>
        <p:nvSpPr>
          <p:cNvPr id="265" name="Google Shape;265;p15"/>
          <p:cNvSpPr txBox="1"/>
          <p:nvPr/>
        </p:nvSpPr>
        <p:spPr>
          <a:xfrm>
            <a:off x="3703320" y="3667658"/>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StockOptionLevel</a:t>
            </a:r>
            <a:endParaRPr b="0" i="0" sz="1100" u="none" cap="none" strike="noStrike">
              <a:solidFill>
                <a:schemeClr val="dk1"/>
              </a:solidFill>
              <a:latin typeface="Calibri"/>
              <a:ea typeface="Calibri"/>
              <a:cs typeface="Calibri"/>
              <a:sym typeface="Calibri"/>
            </a:endParaRPr>
          </a:p>
        </p:txBody>
      </p:sp>
      <p:sp>
        <p:nvSpPr>
          <p:cNvPr id="266" name="Google Shape;266;p15"/>
          <p:cNvSpPr txBox="1"/>
          <p:nvPr/>
        </p:nvSpPr>
        <p:spPr>
          <a:xfrm>
            <a:off x="3703320" y="3903025"/>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267" name="Google Shape;267;p15"/>
          <p:cNvSpPr txBox="1"/>
          <p:nvPr/>
        </p:nvSpPr>
        <p:spPr>
          <a:xfrm>
            <a:off x="6217920" y="3667658"/>
            <a:ext cx="2377440" cy="256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00"/>
              <a:buFont typeface="Calibri"/>
              <a:buNone/>
            </a:pPr>
            <a:r>
              <a:rPr b="0" i="0" lang="en-US" sz="1100" u="none" cap="none" strike="noStrike">
                <a:solidFill>
                  <a:srgbClr val="5A6B8C"/>
                </a:solidFill>
                <a:latin typeface="Calibri"/>
                <a:ea typeface="Calibri"/>
                <a:cs typeface="Calibri"/>
                <a:sym typeface="Calibri"/>
              </a:rPr>
              <a:t>MonthlyIncome</a:t>
            </a:r>
            <a:endParaRPr b="0" i="0" sz="1100" u="none" cap="none" strike="noStrike">
              <a:solidFill>
                <a:schemeClr val="dk1"/>
              </a:solidFill>
              <a:latin typeface="Calibri"/>
              <a:ea typeface="Calibri"/>
              <a:cs typeface="Calibri"/>
              <a:sym typeface="Calibri"/>
            </a:endParaRPr>
          </a:p>
        </p:txBody>
      </p:sp>
      <p:sp>
        <p:nvSpPr>
          <p:cNvPr id="268" name="Google Shape;268;p15"/>
          <p:cNvSpPr txBox="1"/>
          <p:nvPr/>
        </p:nvSpPr>
        <p:spPr>
          <a:xfrm>
            <a:off x="6217920" y="3903025"/>
            <a:ext cx="2377440" cy="278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2,174</a:t>
            </a:r>
            <a:endParaRPr b="0" i="0" sz="1300" u="none" cap="none" strike="noStrike">
              <a:solidFill>
                <a:schemeClr val="dk1"/>
              </a:solidFill>
              <a:latin typeface="Calibri"/>
              <a:ea typeface="Calibri"/>
              <a:cs typeface="Calibri"/>
              <a:sym typeface="Calibri"/>
            </a:endParaRPr>
          </a:p>
        </p:txBody>
      </p:sp>
      <p:sp>
        <p:nvSpPr>
          <p:cNvPr id="269" name="Google Shape;269;p15"/>
          <p:cNvSpPr txBox="1"/>
          <p:nvPr/>
        </p:nvSpPr>
        <p:spPr>
          <a:xfrm>
            <a:off x="3703320" y="4202582"/>
            <a:ext cx="4937760" cy="695401"/>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B2333"/>
              </a:buClr>
              <a:buSzPts val="1200"/>
              <a:buFont typeface="Calibri"/>
              <a:buNone/>
            </a:pPr>
            <a:r>
              <a:rPr b="0" i="1" lang="en-US" sz="1200" u="none" cap="none" strike="noStrike">
                <a:solidFill>
                  <a:srgbClr val="1B2333"/>
                </a:solidFill>
                <a:latin typeface="Calibri"/>
                <a:ea typeface="Calibri"/>
                <a:cs typeface="Calibri"/>
                <a:sym typeface="Calibri"/>
              </a:rPr>
              <a:t>A young, junior, frequently-travelling employee with low satisfaction and no equity stake. A manager can act on that sentence — they cannot act on "0.931".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6"/>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BEING HONEST</a:t>
            </a:r>
            <a:endParaRPr b="0" i="0" sz="1100" u="none" cap="none" strike="noStrike">
              <a:solidFill>
                <a:schemeClr val="dk1"/>
              </a:solidFill>
              <a:latin typeface="Calibri"/>
              <a:ea typeface="Calibri"/>
              <a:cs typeface="Calibri"/>
              <a:sym typeface="Calibri"/>
            </a:endParaRPr>
          </a:p>
        </p:txBody>
      </p:sp>
      <p:sp>
        <p:nvSpPr>
          <p:cNvPr id="276" name="Google Shape;276;p16"/>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Limitations, ethics and HR implications</a:t>
            </a:r>
            <a:endParaRPr b="0" i="0" sz="3000" u="none" cap="none" strike="noStrike">
              <a:solidFill>
                <a:schemeClr val="dk1"/>
              </a:solidFill>
              <a:latin typeface="Calibri"/>
              <a:ea typeface="Calibri"/>
              <a:cs typeface="Calibri"/>
              <a:sym typeface="Calibri"/>
            </a:endParaRPr>
          </a:p>
        </p:txBody>
      </p:sp>
      <p:sp>
        <p:nvSpPr>
          <p:cNvPr id="277" name="Google Shape;277;p16"/>
          <p:cNvSpPr/>
          <p:nvPr/>
        </p:nvSpPr>
        <p:spPr>
          <a:xfrm>
            <a:off x="502920" y="1207008"/>
            <a:ext cx="5029200" cy="620512"/>
          </a:xfrm>
          <a:prstGeom prst="roundRect">
            <a:avLst>
              <a:gd fmla="val 11789"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
          <p:cNvSpPr txBox="1"/>
          <p:nvPr/>
        </p:nvSpPr>
        <p:spPr>
          <a:xfrm>
            <a:off x="731520" y="1260500"/>
            <a:ext cx="173736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Imbalanced data</a:t>
            </a:r>
            <a:endParaRPr b="0" i="0" sz="1150" u="none" cap="none" strike="noStrike">
              <a:solidFill>
                <a:schemeClr val="dk1"/>
              </a:solidFill>
              <a:latin typeface="Calibri"/>
              <a:ea typeface="Calibri"/>
              <a:cs typeface="Calibri"/>
              <a:sym typeface="Calibri"/>
            </a:endParaRPr>
          </a:p>
        </p:txBody>
      </p:sp>
      <p:sp>
        <p:nvSpPr>
          <p:cNvPr id="279" name="Google Shape;279;p16"/>
          <p:cNvSpPr txBox="1"/>
          <p:nvPr/>
        </p:nvSpPr>
        <p:spPr>
          <a:xfrm>
            <a:off x="2514600" y="1260500"/>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Only 16.12% of employees left — minority-class prediction stays hard.</a:t>
            </a:r>
            <a:endParaRPr b="0" i="0" sz="1050" u="none" cap="none" strike="noStrike">
              <a:solidFill>
                <a:schemeClr val="dk1"/>
              </a:solidFill>
              <a:latin typeface="Calibri"/>
              <a:ea typeface="Calibri"/>
              <a:cs typeface="Calibri"/>
              <a:sym typeface="Calibri"/>
            </a:endParaRPr>
          </a:p>
        </p:txBody>
      </p:sp>
      <p:sp>
        <p:nvSpPr>
          <p:cNvPr id="280" name="Google Shape;280;p16"/>
          <p:cNvSpPr/>
          <p:nvPr/>
        </p:nvSpPr>
        <p:spPr>
          <a:xfrm>
            <a:off x="502920" y="1934505"/>
            <a:ext cx="5029200" cy="620512"/>
          </a:xfrm>
          <a:prstGeom prst="roundRect">
            <a:avLst>
              <a:gd fmla="val 11789"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txBox="1"/>
          <p:nvPr/>
        </p:nvSpPr>
        <p:spPr>
          <a:xfrm>
            <a:off x="731520" y="1987997"/>
            <a:ext cx="173736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The model is wrong often</a:t>
            </a:r>
            <a:endParaRPr b="0" i="0" sz="1150" u="none" cap="none" strike="noStrike">
              <a:solidFill>
                <a:schemeClr val="dk1"/>
              </a:solidFill>
              <a:latin typeface="Calibri"/>
              <a:ea typeface="Calibri"/>
              <a:cs typeface="Calibri"/>
              <a:sym typeface="Calibri"/>
            </a:endParaRPr>
          </a:p>
        </p:txBody>
      </p:sp>
      <p:sp>
        <p:nvSpPr>
          <p:cNvPr id="282" name="Google Shape;282;p16"/>
          <p:cNvSpPr txBox="1"/>
          <p:nvPr/>
        </p:nvSpPr>
        <p:spPr>
          <a:xfrm>
            <a:off x="2514600" y="1987997"/>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It misses roughly 4 in 10 leavers and raises false alarms on more than half of the people it flags.</a:t>
            </a:r>
            <a:endParaRPr b="0" i="0" sz="1050" u="none" cap="none" strike="noStrike">
              <a:solidFill>
                <a:schemeClr val="dk1"/>
              </a:solidFill>
              <a:latin typeface="Calibri"/>
              <a:ea typeface="Calibri"/>
              <a:cs typeface="Calibri"/>
              <a:sym typeface="Calibri"/>
            </a:endParaRPr>
          </a:p>
        </p:txBody>
      </p:sp>
      <p:sp>
        <p:nvSpPr>
          <p:cNvPr id="283" name="Google Shape;283;p16"/>
          <p:cNvSpPr/>
          <p:nvPr/>
        </p:nvSpPr>
        <p:spPr>
          <a:xfrm>
            <a:off x="502920" y="2662001"/>
            <a:ext cx="5029200" cy="620512"/>
          </a:xfrm>
          <a:prstGeom prst="roundRect">
            <a:avLst>
              <a:gd fmla="val 11789"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txBox="1"/>
          <p:nvPr/>
        </p:nvSpPr>
        <p:spPr>
          <a:xfrm>
            <a:off x="731520" y="2715494"/>
            <a:ext cx="173736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Overlapping personas</a:t>
            </a:r>
            <a:endParaRPr b="0" i="0" sz="1150" u="none" cap="none" strike="noStrike">
              <a:solidFill>
                <a:schemeClr val="dk1"/>
              </a:solidFill>
              <a:latin typeface="Calibri"/>
              <a:ea typeface="Calibri"/>
              <a:cs typeface="Calibri"/>
              <a:sym typeface="Calibri"/>
            </a:endParaRPr>
          </a:p>
        </p:txBody>
      </p:sp>
      <p:sp>
        <p:nvSpPr>
          <p:cNvPr id="285" name="Google Shape;285;p16"/>
          <p:cNvSpPr txBox="1"/>
          <p:nvPr/>
        </p:nvSpPr>
        <p:spPr>
          <a:xfrm>
            <a:off x="2514600" y="2715494"/>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A silhouette of 0.2176 means broad tendencies, not clean employee types.</a:t>
            </a:r>
            <a:endParaRPr b="0" i="0" sz="1050" u="none" cap="none" strike="noStrike">
              <a:solidFill>
                <a:schemeClr val="dk1"/>
              </a:solidFill>
              <a:latin typeface="Calibri"/>
              <a:ea typeface="Calibri"/>
              <a:cs typeface="Calibri"/>
              <a:sym typeface="Calibri"/>
            </a:endParaRPr>
          </a:p>
        </p:txBody>
      </p:sp>
      <p:sp>
        <p:nvSpPr>
          <p:cNvPr id="286" name="Google Shape;286;p16"/>
          <p:cNvSpPr/>
          <p:nvPr/>
        </p:nvSpPr>
        <p:spPr>
          <a:xfrm>
            <a:off x="502920" y="3389498"/>
            <a:ext cx="5029200" cy="620512"/>
          </a:xfrm>
          <a:prstGeom prst="roundRect">
            <a:avLst>
              <a:gd fmla="val 11789"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txBox="1"/>
          <p:nvPr/>
        </p:nvSpPr>
        <p:spPr>
          <a:xfrm>
            <a:off x="731520" y="3442990"/>
            <a:ext cx="173736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No causation</a:t>
            </a:r>
            <a:endParaRPr b="0" i="0" sz="1150" u="none" cap="none" strike="noStrike">
              <a:solidFill>
                <a:schemeClr val="dk1"/>
              </a:solidFill>
              <a:latin typeface="Calibri"/>
              <a:ea typeface="Calibri"/>
              <a:cs typeface="Calibri"/>
              <a:sym typeface="Calibri"/>
            </a:endParaRPr>
          </a:p>
        </p:txBody>
      </p:sp>
      <p:sp>
        <p:nvSpPr>
          <p:cNvPr id="288" name="Google Shape;288;p16"/>
          <p:cNvSpPr txBox="1"/>
          <p:nvPr/>
        </p:nvSpPr>
        <p:spPr>
          <a:xfrm>
            <a:off x="2514600" y="3442990"/>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050"/>
              <a:buFont typeface="Calibri"/>
              <a:buNone/>
            </a:pPr>
            <a:r>
              <a:rPr b="0" i="0" lang="en-US" sz="1050" u="none" cap="none" strike="noStrike">
                <a:solidFill>
                  <a:srgbClr val="5A6B8C"/>
                </a:solidFill>
                <a:latin typeface="Calibri"/>
                <a:ea typeface="Calibri"/>
                <a:cs typeface="Calibri"/>
                <a:sym typeface="Calibri"/>
              </a:rPr>
              <a:t>SHAP explains model behaviour. It does not prove that overtime, or age, makes anyone leave.</a:t>
            </a:r>
            <a:endParaRPr b="0" i="0" sz="1050" u="none" cap="none" strike="noStrike">
              <a:solidFill>
                <a:schemeClr val="dk1"/>
              </a:solidFill>
              <a:latin typeface="Calibri"/>
              <a:ea typeface="Calibri"/>
              <a:cs typeface="Calibri"/>
              <a:sym typeface="Calibri"/>
            </a:endParaRPr>
          </a:p>
        </p:txBody>
      </p:sp>
      <p:sp>
        <p:nvSpPr>
          <p:cNvPr id="289" name="Google Shape;289;p16"/>
          <p:cNvSpPr/>
          <p:nvPr/>
        </p:nvSpPr>
        <p:spPr>
          <a:xfrm>
            <a:off x="5806440" y="1207008"/>
            <a:ext cx="2880360" cy="3583991"/>
          </a:xfrm>
          <a:prstGeom prst="roundRect">
            <a:avLst>
              <a:gd fmla="val 2540"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txBox="1"/>
          <p:nvPr/>
        </p:nvSpPr>
        <p:spPr>
          <a:xfrm>
            <a:off x="6035040" y="1420978"/>
            <a:ext cx="242316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050"/>
              <a:buFont typeface="Calibri"/>
              <a:buNone/>
            </a:pPr>
            <a:r>
              <a:rPr b="1" i="0" lang="en-US" sz="1050" u="none" cap="none" strike="noStrike">
                <a:solidFill>
                  <a:srgbClr val="2A9D8F"/>
                </a:solidFill>
                <a:latin typeface="Calibri"/>
                <a:ea typeface="Calibri"/>
                <a:cs typeface="Calibri"/>
                <a:sym typeface="Calibri"/>
              </a:rPr>
              <a:t>USE IT AS</a:t>
            </a:r>
            <a:endParaRPr b="0" i="0" sz="1050" u="none" cap="none" strike="noStrike">
              <a:solidFill>
                <a:schemeClr val="dk1"/>
              </a:solidFill>
              <a:latin typeface="Calibri"/>
              <a:ea typeface="Calibri"/>
              <a:cs typeface="Calibri"/>
              <a:sym typeface="Calibri"/>
            </a:endParaRPr>
          </a:p>
        </p:txBody>
      </p:sp>
      <p:sp>
        <p:nvSpPr>
          <p:cNvPr id="291" name="Google Shape;291;p16"/>
          <p:cNvSpPr txBox="1"/>
          <p:nvPr/>
        </p:nvSpPr>
        <p:spPr>
          <a:xfrm>
            <a:off x="6035040" y="1741932"/>
            <a:ext cx="2423160" cy="106984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An early-warning signal that prompts a conversation, a check-in, or a look at workload in a team.</a:t>
            </a:r>
            <a:endParaRPr b="0" i="0" sz="1200" u="none" cap="none" strike="noStrike">
              <a:solidFill>
                <a:schemeClr val="dk1"/>
              </a:solidFill>
              <a:latin typeface="Calibri"/>
              <a:ea typeface="Calibri"/>
              <a:cs typeface="Calibri"/>
              <a:sym typeface="Calibri"/>
            </a:endParaRPr>
          </a:p>
        </p:txBody>
      </p:sp>
      <p:sp>
        <p:nvSpPr>
          <p:cNvPr id="292" name="Google Shape;292;p16"/>
          <p:cNvSpPr txBox="1"/>
          <p:nvPr/>
        </p:nvSpPr>
        <p:spPr>
          <a:xfrm>
            <a:off x="6035040" y="2918765"/>
            <a:ext cx="2423160" cy="2674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050"/>
              <a:buFont typeface="Calibri"/>
              <a:buNone/>
            </a:pPr>
            <a:r>
              <a:rPr b="1" i="0" lang="en-US" sz="1050" u="none" cap="none" strike="noStrike">
                <a:solidFill>
                  <a:srgbClr val="E4572E"/>
                </a:solidFill>
                <a:latin typeface="Calibri"/>
                <a:ea typeface="Calibri"/>
                <a:cs typeface="Calibri"/>
                <a:sym typeface="Calibri"/>
              </a:rPr>
              <a:t>NEVER AS</a:t>
            </a:r>
            <a:endParaRPr b="0" i="0" sz="1050" u="none" cap="none" strike="noStrike">
              <a:solidFill>
                <a:schemeClr val="dk1"/>
              </a:solidFill>
              <a:latin typeface="Calibri"/>
              <a:ea typeface="Calibri"/>
              <a:cs typeface="Calibri"/>
              <a:sym typeface="Calibri"/>
            </a:endParaRPr>
          </a:p>
        </p:txBody>
      </p:sp>
      <p:sp>
        <p:nvSpPr>
          <p:cNvPr id="293" name="Google Shape;293;p16"/>
          <p:cNvSpPr txBox="1"/>
          <p:nvPr/>
        </p:nvSpPr>
        <p:spPr>
          <a:xfrm>
            <a:off x="6035040" y="3239719"/>
            <a:ext cx="2423160" cy="106984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A label on an individual, or a basis for pay, promotion or termination decisions.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98" name="Shape 298"/>
        <p:cNvGrpSpPr/>
        <p:nvPr/>
      </p:nvGrpSpPr>
      <p:grpSpPr>
        <a:xfrm>
          <a:off x="0" y="0"/>
          <a:ext cx="0" cy="0"/>
          <a:chOff x="0" y="0"/>
          <a:chExt cx="0" cy="0"/>
        </a:xfrm>
      </p:grpSpPr>
      <p:sp>
        <p:nvSpPr>
          <p:cNvPr id="299" name="Google Shape;299;p17"/>
          <p:cNvSpPr/>
          <p:nvPr/>
        </p:nvSpPr>
        <p:spPr>
          <a:xfrm>
            <a:off x="-1188720" y="3186227"/>
            <a:ext cx="3291840" cy="3291840"/>
          </a:xfrm>
          <a:prstGeom prst="ellipse">
            <a:avLst/>
          </a:prstGeom>
          <a:solidFill>
            <a:srgbClr val="141C45"/>
          </a:solidFill>
          <a:ln cap="flat" cmpd="sng" w="12700">
            <a:solidFill>
              <a:srgbClr val="141C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
          <p:cNvSpPr txBox="1"/>
          <p:nvPr/>
        </p:nvSpPr>
        <p:spPr>
          <a:xfrm>
            <a:off x="640080" y="457200"/>
            <a:ext cx="7863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What we found</a:t>
            </a:r>
            <a:endParaRPr b="0" i="0" sz="3200" u="none" cap="none" strike="noStrike">
              <a:solidFill>
                <a:schemeClr val="dk1"/>
              </a:solidFill>
              <a:latin typeface="Calibri"/>
              <a:ea typeface="Calibri"/>
              <a:cs typeface="Calibri"/>
              <a:sym typeface="Calibri"/>
            </a:endParaRPr>
          </a:p>
        </p:txBody>
      </p:sp>
      <p:sp>
        <p:nvSpPr>
          <p:cNvPr id="301" name="Google Shape;301;p17"/>
          <p:cNvSpPr/>
          <p:nvPr/>
        </p:nvSpPr>
        <p:spPr>
          <a:xfrm>
            <a:off x="640080" y="1420978"/>
            <a:ext cx="384048" cy="384048"/>
          </a:xfrm>
          <a:prstGeom prst="ellipse">
            <a:avLst/>
          </a:prstGeom>
          <a:solidFill>
            <a:srgbClr val="E4572E"/>
          </a:solidFill>
          <a:ln cap="flat" cmpd="sng" w="12700">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
          <p:cNvSpPr txBox="1"/>
          <p:nvPr/>
        </p:nvSpPr>
        <p:spPr>
          <a:xfrm>
            <a:off x="640080" y="142097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03" name="Google Shape;303;p17"/>
          <p:cNvSpPr txBox="1"/>
          <p:nvPr/>
        </p:nvSpPr>
        <p:spPr>
          <a:xfrm>
            <a:off x="1188720" y="1399581"/>
            <a:ext cx="72237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Two personas</a:t>
            </a:r>
            <a:endParaRPr b="0" i="0" sz="1500" u="none" cap="none" strike="noStrike">
              <a:solidFill>
                <a:schemeClr val="dk1"/>
              </a:solidFill>
              <a:latin typeface="Calibri"/>
              <a:ea typeface="Calibri"/>
              <a:cs typeface="Calibri"/>
              <a:sym typeface="Calibri"/>
            </a:endParaRPr>
          </a:p>
        </p:txBody>
      </p:sp>
      <p:sp>
        <p:nvSpPr>
          <p:cNvPr id="304" name="Google Shape;304;p17"/>
          <p:cNvSpPr txBox="1"/>
          <p:nvPr/>
        </p:nvSpPr>
        <p:spPr>
          <a:xfrm>
            <a:off x="1188720" y="1720535"/>
            <a:ext cx="7223760" cy="534924"/>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Early-tenure staff are 65.1% of the workforce and leave at 18.81%, against 11.11% for long-tenure staff.</a:t>
            </a:r>
            <a:endParaRPr b="0" i="0" sz="1250" u="none" cap="none" strike="noStrike">
              <a:solidFill>
                <a:schemeClr val="dk1"/>
              </a:solidFill>
              <a:latin typeface="Calibri"/>
              <a:ea typeface="Calibri"/>
              <a:cs typeface="Calibri"/>
              <a:sym typeface="Calibri"/>
            </a:endParaRPr>
          </a:p>
        </p:txBody>
      </p:sp>
      <p:sp>
        <p:nvSpPr>
          <p:cNvPr id="305" name="Google Shape;305;p17"/>
          <p:cNvSpPr/>
          <p:nvPr/>
        </p:nvSpPr>
        <p:spPr>
          <a:xfrm>
            <a:off x="640080" y="2437333"/>
            <a:ext cx="384048" cy="384048"/>
          </a:xfrm>
          <a:prstGeom prst="ellipse">
            <a:avLst/>
          </a:prstGeom>
          <a:solidFill>
            <a:srgbClr val="E4572E"/>
          </a:solidFill>
          <a:ln cap="flat" cmpd="sng" w="12700">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7"/>
          <p:cNvSpPr txBox="1"/>
          <p:nvPr/>
        </p:nvSpPr>
        <p:spPr>
          <a:xfrm>
            <a:off x="640080" y="2437333"/>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07" name="Google Shape;307;p17"/>
          <p:cNvSpPr txBox="1"/>
          <p:nvPr/>
        </p:nvSpPr>
        <p:spPr>
          <a:xfrm>
            <a:off x="1188720" y="2415936"/>
            <a:ext cx="72237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One model</a:t>
            </a:r>
            <a:endParaRPr b="0" i="0" sz="1500" u="none" cap="none" strike="noStrike">
              <a:solidFill>
                <a:schemeClr val="dk1"/>
              </a:solidFill>
              <a:latin typeface="Calibri"/>
              <a:ea typeface="Calibri"/>
              <a:cs typeface="Calibri"/>
              <a:sym typeface="Calibri"/>
            </a:endParaRPr>
          </a:p>
        </p:txBody>
      </p:sp>
      <p:sp>
        <p:nvSpPr>
          <p:cNvPr id="308" name="Google Shape;308;p17"/>
          <p:cNvSpPr txBox="1"/>
          <p:nvPr/>
        </p:nvSpPr>
        <p:spPr>
          <a:xfrm>
            <a:off x="1188720" y="2736891"/>
            <a:ext cx="7223760" cy="534924"/>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SVM, chosen on F1 = 0.519, catches about 60% of leavers at 46% precision.</a:t>
            </a:r>
            <a:endParaRPr b="0" i="0" sz="1250" u="none" cap="none" strike="noStrike">
              <a:solidFill>
                <a:schemeClr val="dk1"/>
              </a:solidFill>
              <a:latin typeface="Calibri"/>
              <a:ea typeface="Calibri"/>
              <a:cs typeface="Calibri"/>
              <a:sym typeface="Calibri"/>
            </a:endParaRPr>
          </a:p>
        </p:txBody>
      </p:sp>
      <p:sp>
        <p:nvSpPr>
          <p:cNvPr id="309" name="Google Shape;309;p17"/>
          <p:cNvSpPr/>
          <p:nvPr/>
        </p:nvSpPr>
        <p:spPr>
          <a:xfrm>
            <a:off x="640080" y="3453689"/>
            <a:ext cx="384048" cy="384048"/>
          </a:xfrm>
          <a:prstGeom prst="ellipse">
            <a:avLst/>
          </a:prstGeom>
          <a:solidFill>
            <a:srgbClr val="E4572E"/>
          </a:solidFill>
          <a:ln cap="flat" cmpd="sng" w="12700">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7"/>
          <p:cNvSpPr txBox="1"/>
          <p:nvPr/>
        </p:nvSpPr>
        <p:spPr>
          <a:xfrm>
            <a:off x="640080" y="3453689"/>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11" name="Google Shape;311;p17"/>
          <p:cNvSpPr txBox="1"/>
          <p:nvPr/>
        </p:nvSpPr>
        <p:spPr>
          <a:xfrm>
            <a:off x="1188720" y="3432292"/>
            <a:ext cx="7223760" cy="3209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One explanation per person</a:t>
            </a:r>
            <a:endParaRPr b="0" i="0" sz="1500" u="none" cap="none" strike="noStrike">
              <a:solidFill>
                <a:schemeClr val="dk1"/>
              </a:solidFill>
              <a:latin typeface="Calibri"/>
              <a:ea typeface="Calibri"/>
              <a:cs typeface="Calibri"/>
              <a:sym typeface="Calibri"/>
            </a:endParaRPr>
          </a:p>
        </p:txBody>
      </p:sp>
      <p:sp>
        <p:nvSpPr>
          <p:cNvPr id="312" name="Google Shape;312;p17"/>
          <p:cNvSpPr txBox="1"/>
          <p:nvPr/>
        </p:nvSpPr>
        <p:spPr>
          <a:xfrm>
            <a:off x="1188720" y="3753246"/>
            <a:ext cx="7223760" cy="534924"/>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CADCFC"/>
              </a:buClr>
              <a:buSzPts val="1250"/>
              <a:buFont typeface="Calibri"/>
              <a:buNone/>
            </a:pPr>
            <a:r>
              <a:rPr b="0" i="0" lang="en-US" sz="1250" u="none" cap="none" strike="noStrike">
                <a:solidFill>
                  <a:srgbClr val="CADCFC"/>
                </a:solidFill>
                <a:latin typeface="Calibri"/>
                <a:ea typeface="Calibri"/>
                <a:cs typeface="Calibri"/>
                <a:sym typeface="Calibri"/>
              </a:rPr>
              <a:t>SHAP turns each score into a readable profile — OverTime leading overall.</a:t>
            </a:r>
            <a:endParaRPr b="0" i="0" sz="1250" u="none" cap="none" strike="noStrike">
              <a:solidFill>
                <a:schemeClr val="dk1"/>
              </a:solidFill>
              <a:latin typeface="Calibri"/>
              <a:ea typeface="Calibri"/>
              <a:cs typeface="Calibri"/>
              <a:sym typeface="Calibri"/>
            </a:endParaRPr>
          </a:p>
        </p:txBody>
      </p:sp>
      <p:sp>
        <p:nvSpPr>
          <p:cNvPr id="313" name="Google Shape;313;p17"/>
          <p:cNvSpPr txBox="1"/>
          <p:nvPr/>
        </p:nvSpPr>
        <p:spPr>
          <a:xfrm>
            <a:off x="640080" y="4577029"/>
            <a:ext cx="7863840" cy="42793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500"/>
              <a:buFont typeface="Cambria"/>
              <a:buNone/>
            </a:pPr>
            <a:r>
              <a:rPr b="0" i="1" lang="en-US" sz="1500" u="none" cap="none" strike="noStrike">
                <a:solidFill>
                  <a:srgbClr val="E4572E"/>
                </a:solidFill>
                <a:latin typeface="Cambria"/>
                <a:ea typeface="Cambria"/>
                <a:cs typeface="Cambria"/>
                <a:sym typeface="Cambria"/>
              </a:rPr>
              <a:t>Machine learning gives HR an earlier question to ask — not an answer about a person.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8"/>
          <p:cNvSpPr txBox="1"/>
          <p:nvPr/>
        </p:nvSpPr>
        <p:spPr>
          <a:xfrm>
            <a:off x="502920" y="274320"/>
            <a:ext cx="8138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THANK YOU</a:t>
            </a:r>
            <a:endParaRPr b="0" i="0" sz="1100" u="none" cap="none" strike="noStrike">
              <a:solidFill>
                <a:schemeClr val="dk1"/>
              </a:solidFill>
              <a:latin typeface="Calibri"/>
              <a:ea typeface="Calibri"/>
              <a:cs typeface="Calibri"/>
              <a:sym typeface="Calibri"/>
            </a:endParaRPr>
          </a:p>
        </p:txBody>
      </p:sp>
      <p:sp>
        <p:nvSpPr>
          <p:cNvPr id="320" name="Google Shape;320;p18"/>
          <p:cNvSpPr txBox="1"/>
          <p:nvPr/>
        </p:nvSpPr>
        <p:spPr>
          <a:xfrm>
            <a:off x="502920" y="502920"/>
            <a:ext cx="8138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Group 8 contributions</a:t>
            </a:r>
            <a:endParaRPr b="0" i="0" sz="3000" u="none" cap="none" strike="noStrike">
              <a:solidFill>
                <a:schemeClr val="dk1"/>
              </a:solidFill>
              <a:latin typeface="Calibri"/>
              <a:ea typeface="Calibri"/>
              <a:cs typeface="Calibri"/>
              <a:sym typeface="Calibri"/>
            </a:endParaRPr>
          </a:p>
        </p:txBody>
      </p:sp>
      <p:sp>
        <p:nvSpPr>
          <p:cNvPr id="321" name="Google Shape;321;p18"/>
          <p:cNvSpPr/>
          <p:nvPr/>
        </p:nvSpPr>
        <p:spPr>
          <a:xfrm>
            <a:off x="502920" y="1313993"/>
            <a:ext cx="8138160" cy="674004"/>
          </a:xfrm>
          <a:prstGeom prst="roundRect">
            <a:avLst>
              <a:gd fmla="val 10853"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8"/>
          <p:cNvSpPr txBox="1"/>
          <p:nvPr/>
        </p:nvSpPr>
        <p:spPr>
          <a:xfrm>
            <a:off x="777240" y="1367485"/>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Mpayimana Iradukunda Robert</a:t>
            </a:r>
            <a:endParaRPr b="0" i="0" sz="1300" u="none" cap="none" strike="noStrike">
              <a:solidFill>
                <a:schemeClr val="dk1"/>
              </a:solidFill>
              <a:latin typeface="Calibri"/>
              <a:ea typeface="Calibri"/>
              <a:cs typeface="Calibri"/>
              <a:sym typeface="Calibri"/>
            </a:endParaRPr>
          </a:p>
        </p:txBody>
      </p:sp>
      <p:sp>
        <p:nvSpPr>
          <p:cNvPr id="323" name="Google Shape;323;p18"/>
          <p:cNvSpPr txBox="1"/>
          <p:nvPr/>
        </p:nvSpPr>
        <p:spPr>
          <a:xfrm>
            <a:off x="3657600" y="1367485"/>
            <a:ext cx="137160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20251MBI029</a:t>
            </a:r>
            <a:endParaRPr b="0" i="0" sz="1150" u="none" cap="none" strike="noStrike">
              <a:solidFill>
                <a:schemeClr val="dk1"/>
              </a:solidFill>
              <a:latin typeface="Calibri"/>
              <a:ea typeface="Calibri"/>
              <a:cs typeface="Calibri"/>
              <a:sym typeface="Calibri"/>
            </a:endParaRPr>
          </a:p>
        </p:txBody>
      </p:sp>
      <p:sp>
        <p:nvSpPr>
          <p:cNvPr id="324" name="Google Shape;324;p18"/>
          <p:cNvSpPr txBox="1"/>
          <p:nvPr/>
        </p:nvSpPr>
        <p:spPr>
          <a:xfrm>
            <a:off x="5120640" y="1367485"/>
            <a:ext cx="32918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0" i="0" lang="en-US" sz="1150" u="none" cap="none" strike="noStrike">
                <a:solidFill>
                  <a:srgbClr val="1E2761"/>
                </a:solidFill>
                <a:latin typeface="Calibri"/>
                <a:ea typeface="Calibri"/>
                <a:cs typeface="Calibri"/>
                <a:sym typeface="Calibri"/>
              </a:rPr>
              <a:t>Data &amp; Cleaning Lead</a:t>
            </a:r>
            <a:endParaRPr b="0" i="0" sz="1150" u="none" cap="none" strike="noStrike">
              <a:solidFill>
                <a:schemeClr val="dk1"/>
              </a:solidFill>
              <a:latin typeface="Calibri"/>
              <a:ea typeface="Calibri"/>
              <a:cs typeface="Calibri"/>
              <a:sym typeface="Calibri"/>
            </a:endParaRPr>
          </a:p>
        </p:txBody>
      </p:sp>
      <p:sp>
        <p:nvSpPr>
          <p:cNvPr id="325" name="Google Shape;325;p18"/>
          <p:cNvSpPr/>
          <p:nvPr/>
        </p:nvSpPr>
        <p:spPr>
          <a:xfrm>
            <a:off x="502920" y="2116379"/>
            <a:ext cx="8138160" cy="674004"/>
          </a:xfrm>
          <a:prstGeom prst="roundRect">
            <a:avLst>
              <a:gd fmla="val 10853"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txBox="1"/>
          <p:nvPr/>
        </p:nvSpPr>
        <p:spPr>
          <a:xfrm>
            <a:off x="777240" y="2169871"/>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Ishimwe Divin Claudel</a:t>
            </a:r>
            <a:endParaRPr b="0" i="0" sz="1300" u="none" cap="none" strike="noStrike">
              <a:solidFill>
                <a:schemeClr val="dk1"/>
              </a:solidFill>
              <a:latin typeface="Calibri"/>
              <a:ea typeface="Calibri"/>
              <a:cs typeface="Calibri"/>
              <a:sym typeface="Calibri"/>
            </a:endParaRPr>
          </a:p>
        </p:txBody>
      </p:sp>
      <p:sp>
        <p:nvSpPr>
          <p:cNvPr id="327" name="Google Shape;327;p18"/>
          <p:cNvSpPr txBox="1"/>
          <p:nvPr/>
        </p:nvSpPr>
        <p:spPr>
          <a:xfrm>
            <a:off x="3657600" y="2169871"/>
            <a:ext cx="137160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20251MBI017</a:t>
            </a:r>
            <a:endParaRPr b="0" i="0" sz="1150" u="none" cap="none" strike="noStrike">
              <a:solidFill>
                <a:schemeClr val="dk1"/>
              </a:solidFill>
              <a:latin typeface="Calibri"/>
              <a:ea typeface="Calibri"/>
              <a:cs typeface="Calibri"/>
              <a:sym typeface="Calibri"/>
            </a:endParaRPr>
          </a:p>
        </p:txBody>
      </p:sp>
      <p:sp>
        <p:nvSpPr>
          <p:cNvPr id="328" name="Google Shape;328;p18"/>
          <p:cNvSpPr txBox="1"/>
          <p:nvPr/>
        </p:nvSpPr>
        <p:spPr>
          <a:xfrm>
            <a:off x="5120640" y="2169871"/>
            <a:ext cx="32918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0" i="0" lang="en-US" sz="1150" u="none" cap="none" strike="noStrike">
                <a:solidFill>
                  <a:srgbClr val="1E2761"/>
                </a:solidFill>
                <a:latin typeface="Calibri"/>
                <a:ea typeface="Calibri"/>
                <a:cs typeface="Calibri"/>
                <a:sym typeface="Calibri"/>
              </a:rPr>
              <a:t>Unsupervised Learning Lead</a:t>
            </a:r>
            <a:endParaRPr b="0" i="0" sz="1150" u="none" cap="none" strike="noStrike">
              <a:solidFill>
                <a:schemeClr val="dk1"/>
              </a:solidFill>
              <a:latin typeface="Calibri"/>
              <a:ea typeface="Calibri"/>
              <a:cs typeface="Calibri"/>
              <a:sym typeface="Calibri"/>
            </a:endParaRPr>
          </a:p>
        </p:txBody>
      </p:sp>
      <p:sp>
        <p:nvSpPr>
          <p:cNvPr id="329" name="Google Shape;329;p18"/>
          <p:cNvSpPr/>
          <p:nvPr/>
        </p:nvSpPr>
        <p:spPr>
          <a:xfrm>
            <a:off x="502920" y="2918765"/>
            <a:ext cx="8138160" cy="674004"/>
          </a:xfrm>
          <a:prstGeom prst="roundRect">
            <a:avLst>
              <a:gd fmla="val 10853"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txBox="1"/>
          <p:nvPr/>
        </p:nvSpPr>
        <p:spPr>
          <a:xfrm>
            <a:off x="777240" y="2972257"/>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Shimwa Uwase Sylvie</a:t>
            </a:r>
            <a:endParaRPr b="0" i="0" sz="1300" u="none" cap="none" strike="noStrike">
              <a:solidFill>
                <a:schemeClr val="dk1"/>
              </a:solidFill>
              <a:latin typeface="Calibri"/>
              <a:ea typeface="Calibri"/>
              <a:cs typeface="Calibri"/>
              <a:sym typeface="Calibri"/>
            </a:endParaRPr>
          </a:p>
        </p:txBody>
      </p:sp>
      <p:sp>
        <p:nvSpPr>
          <p:cNvPr id="331" name="Google Shape;331;p18"/>
          <p:cNvSpPr txBox="1"/>
          <p:nvPr/>
        </p:nvSpPr>
        <p:spPr>
          <a:xfrm>
            <a:off x="3657600" y="2972257"/>
            <a:ext cx="137160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20251MBI007</a:t>
            </a:r>
            <a:endParaRPr b="0" i="0" sz="1150" u="none" cap="none" strike="noStrike">
              <a:solidFill>
                <a:schemeClr val="dk1"/>
              </a:solidFill>
              <a:latin typeface="Calibri"/>
              <a:ea typeface="Calibri"/>
              <a:cs typeface="Calibri"/>
              <a:sym typeface="Calibri"/>
            </a:endParaRPr>
          </a:p>
        </p:txBody>
      </p:sp>
      <p:sp>
        <p:nvSpPr>
          <p:cNvPr id="332" name="Google Shape;332;p18"/>
          <p:cNvSpPr txBox="1"/>
          <p:nvPr/>
        </p:nvSpPr>
        <p:spPr>
          <a:xfrm>
            <a:off x="5120640" y="2972257"/>
            <a:ext cx="32918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0" i="0" lang="en-US" sz="1150" u="none" cap="none" strike="noStrike">
                <a:solidFill>
                  <a:srgbClr val="1E2761"/>
                </a:solidFill>
                <a:latin typeface="Calibri"/>
                <a:ea typeface="Calibri"/>
                <a:cs typeface="Calibri"/>
                <a:sym typeface="Calibri"/>
              </a:rPr>
              <a:t>Supervised Learning Lead</a:t>
            </a:r>
            <a:endParaRPr b="0" i="0" sz="1150" u="none" cap="none" strike="noStrike">
              <a:solidFill>
                <a:schemeClr val="dk1"/>
              </a:solidFill>
              <a:latin typeface="Calibri"/>
              <a:ea typeface="Calibri"/>
              <a:cs typeface="Calibri"/>
              <a:sym typeface="Calibri"/>
            </a:endParaRPr>
          </a:p>
        </p:txBody>
      </p:sp>
      <p:sp>
        <p:nvSpPr>
          <p:cNvPr id="333" name="Google Shape;333;p18"/>
          <p:cNvSpPr/>
          <p:nvPr/>
        </p:nvSpPr>
        <p:spPr>
          <a:xfrm>
            <a:off x="502920" y="3721151"/>
            <a:ext cx="8138160" cy="674004"/>
          </a:xfrm>
          <a:prstGeom prst="roundRect">
            <a:avLst>
              <a:gd fmla="val 10853" name="adj"/>
            </a:avLst>
          </a:prstGeom>
          <a:solidFill>
            <a:srgbClr val="EEF3FB"/>
          </a:solidFill>
          <a:ln cap="flat" cmpd="sng" w="12700">
            <a:solidFill>
              <a:srgbClr val="EEF3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
          <p:cNvSpPr txBox="1"/>
          <p:nvPr/>
        </p:nvSpPr>
        <p:spPr>
          <a:xfrm>
            <a:off x="777240" y="3774643"/>
            <a:ext cx="28346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Hirwa Fabrice</a:t>
            </a:r>
            <a:endParaRPr b="0" i="0" sz="1300" u="none" cap="none" strike="noStrike">
              <a:solidFill>
                <a:schemeClr val="dk1"/>
              </a:solidFill>
              <a:latin typeface="Calibri"/>
              <a:ea typeface="Calibri"/>
              <a:cs typeface="Calibri"/>
              <a:sym typeface="Calibri"/>
            </a:endParaRPr>
          </a:p>
        </p:txBody>
      </p:sp>
      <p:sp>
        <p:nvSpPr>
          <p:cNvPr id="335" name="Google Shape;335;p18"/>
          <p:cNvSpPr txBox="1"/>
          <p:nvPr/>
        </p:nvSpPr>
        <p:spPr>
          <a:xfrm>
            <a:off x="3657600" y="3774643"/>
            <a:ext cx="137160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150"/>
              <a:buFont typeface="Calibri"/>
              <a:buNone/>
            </a:pPr>
            <a:r>
              <a:rPr b="0" i="0" lang="en-US" sz="1150" u="none" cap="none" strike="noStrike">
                <a:solidFill>
                  <a:srgbClr val="5A6B8C"/>
                </a:solidFill>
                <a:latin typeface="Calibri"/>
                <a:ea typeface="Calibri"/>
                <a:cs typeface="Calibri"/>
                <a:sym typeface="Calibri"/>
              </a:rPr>
              <a:t>20251MBI050</a:t>
            </a:r>
            <a:endParaRPr b="0" i="0" sz="1150" u="none" cap="none" strike="noStrike">
              <a:solidFill>
                <a:schemeClr val="dk1"/>
              </a:solidFill>
              <a:latin typeface="Calibri"/>
              <a:ea typeface="Calibri"/>
              <a:cs typeface="Calibri"/>
              <a:sym typeface="Calibri"/>
            </a:endParaRPr>
          </a:p>
        </p:txBody>
      </p:sp>
      <p:sp>
        <p:nvSpPr>
          <p:cNvPr id="336" name="Google Shape;336;p18"/>
          <p:cNvSpPr txBox="1"/>
          <p:nvPr/>
        </p:nvSpPr>
        <p:spPr>
          <a:xfrm>
            <a:off x="5120640" y="3774643"/>
            <a:ext cx="32918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0" i="0" lang="en-US" sz="1150" u="none" cap="none" strike="noStrike">
                <a:solidFill>
                  <a:srgbClr val="1E2761"/>
                </a:solidFill>
                <a:latin typeface="Calibri"/>
                <a:ea typeface="Calibri"/>
                <a:cs typeface="Calibri"/>
                <a:sym typeface="Calibri"/>
              </a:rPr>
              <a:t>Story &amp; Interpretation Lead — SHAP, report, slides</a:t>
            </a:r>
            <a:endParaRPr b="0" i="0" sz="1150" u="none" cap="none" strike="noStrike">
              <a:solidFill>
                <a:schemeClr val="dk1"/>
              </a:solidFill>
              <a:latin typeface="Calibri"/>
              <a:ea typeface="Calibri"/>
              <a:cs typeface="Calibri"/>
              <a:sym typeface="Calibri"/>
            </a:endParaRPr>
          </a:p>
        </p:txBody>
      </p:sp>
      <p:sp>
        <p:nvSpPr>
          <p:cNvPr id="337" name="Google Shape;337;p18"/>
          <p:cNvSpPr txBox="1"/>
          <p:nvPr/>
        </p:nvSpPr>
        <p:spPr>
          <a:xfrm>
            <a:off x="502920" y="4470044"/>
            <a:ext cx="813816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2200"/>
              <a:buFont typeface="Cambria"/>
              <a:buNone/>
            </a:pPr>
            <a:r>
              <a:rPr b="1" i="0" lang="en-US" sz="2200" u="none" cap="none" strike="noStrike">
                <a:solidFill>
                  <a:srgbClr val="E4572E"/>
                </a:solidFill>
                <a:latin typeface="Cambria"/>
                <a:ea typeface="Cambria"/>
                <a:cs typeface="Cambria"/>
                <a:sym typeface="Cambria"/>
              </a:rPr>
              <a:t>Questions?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